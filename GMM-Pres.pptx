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62" y="7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3292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2896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2896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2261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3531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2261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2261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60712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2261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53092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26597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2261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3292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2896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2896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2261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3531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2261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2261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60712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2261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53092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26597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2261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3292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2896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2896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2261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3531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2261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2261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60712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2261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53092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26597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2261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3292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41470" y="302896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319272" y="302896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75618" y="302261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412450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2318" y="303531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683417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59618" y="302261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030598" y="302261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954397" y="302896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5030598" y="3060712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301577" y="302261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603025" y="3053092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575961" y="3026597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1104" y="302261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7"/>
            <a:ext cx="294195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031987"/>
            <a:ext cx="5201920" cy="1128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hlink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0758" y="3131566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slide" Target="slide4.xml"/><Relationship Id="rId26" Type="http://schemas.openxmlformats.org/officeDocument/2006/relationships/slide" Target="slide13.xml"/><Relationship Id="rId3" Type="http://schemas.openxmlformats.org/officeDocument/2006/relationships/image" Target="../media/image2.png"/><Relationship Id="rId21" Type="http://schemas.openxmlformats.org/officeDocument/2006/relationships/slide" Target="slide7.xml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slide" Target="slide3.xml"/><Relationship Id="rId25" Type="http://schemas.openxmlformats.org/officeDocument/2006/relationships/slide" Target="slide11.xml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slide" Target="slide10.xml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slide" Target="slide9.xml"/><Relationship Id="rId28" Type="http://schemas.openxmlformats.org/officeDocument/2006/relationships/slide" Target="slide15.xml"/><Relationship Id="rId10" Type="http://schemas.openxmlformats.org/officeDocument/2006/relationships/image" Target="../media/image9.png"/><Relationship Id="rId19" Type="http://schemas.openxmlformats.org/officeDocument/2006/relationships/slide" Target="slide5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slide" Target="slide8.xml"/><Relationship Id="rId27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hyperlink" Target="https://arxiv.org/pdf/1711.06929" TargetMode="External"/><Relationship Id="rId7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machine-learning/gaussian-mixture-model/" TargetMode="External"/><Relationship Id="rId5" Type="http://schemas.openxmlformats.org/officeDocument/2006/relationships/hyperlink" Target="https://scikit-learn.org/stable/modules/mixture.html" TargetMode="External"/><Relationship Id="rId4" Type="http://schemas.openxmlformats.org/officeDocument/2006/relationships/hyperlink" Target="https://youtu.be/wT2yLNUfyoM?si=-pk7N_YOpsFzzha1" TargetMode="External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63777"/>
            <a:ext cx="5635625" cy="494030"/>
            <a:chOff x="87743" y="763777"/>
            <a:chExt cx="5635625" cy="494030"/>
          </a:xfrm>
        </p:grpSpPr>
        <p:sp>
          <p:nvSpPr>
            <p:cNvPr id="3" name="object 3"/>
            <p:cNvSpPr/>
            <p:nvPr/>
          </p:nvSpPr>
          <p:spPr>
            <a:xfrm>
              <a:off x="87743" y="763777"/>
              <a:ext cx="5584825" cy="82550"/>
            </a:xfrm>
            <a:custGeom>
              <a:avLst/>
              <a:gdLst/>
              <a:ahLst/>
              <a:cxnLst/>
              <a:rect l="l" t="t" r="r" b="b"/>
              <a:pathLst>
                <a:path w="5584825" h="82550">
                  <a:moveTo>
                    <a:pt x="553377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4580" y="82384"/>
                  </a:lnTo>
                  <a:lnTo>
                    <a:pt x="5584580" y="50800"/>
                  </a:lnTo>
                  <a:lnTo>
                    <a:pt x="5580571" y="31075"/>
                  </a:lnTo>
                  <a:lnTo>
                    <a:pt x="5569657" y="14922"/>
                  </a:lnTo>
                  <a:lnTo>
                    <a:pt x="5553504" y="4008"/>
                  </a:lnTo>
                  <a:lnTo>
                    <a:pt x="5533779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27028"/>
              <a:ext cx="5584825" cy="431165"/>
            </a:xfrm>
            <a:custGeom>
              <a:avLst/>
              <a:gdLst/>
              <a:ahLst/>
              <a:cxnLst/>
              <a:rect l="l" t="t" r="r" b="b"/>
              <a:pathLst>
                <a:path w="5584825" h="431165">
                  <a:moveTo>
                    <a:pt x="5584580" y="0"/>
                  </a:moveTo>
                  <a:lnTo>
                    <a:pt x="0" y="0"/>
                  </a:lnTo>
                  <a:lnTo>
                    <a:pt x="0" y="430666"/>
                  </a:lnTo>
                  <a:lnTo>
                    <a:pt x="5584580" y="430666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08191"/>
              <a:ext cx="5584825" cy="398780"/>
            </a:xfrm>
            <a:custGeom>
              <a:avLst/>
              <a:gdLst/>
              <a:ahLst/>
              <a:cxnLst/>
              <a:rect l="l" t="t" r="r" b="b"/>
              <a:pathLst>
                <a:path w="5584825" h="398780">
                  <a:moveTo>
                    <a:pt x="5584580" y="0"/>
                  </a:moveTo>
                  <a:lnTo>
                    <a:pt x="0" y="0"/>
                  </a:lnTo>
                  <a:lnTo>
                    <a:pt x="0" y="347902"/>
                  </a:lnTo>
                  <a:lnTo>
                    <a:pt x="4008" y="367627"/>
                  </a:lnTo>
                  <a:lnTo>
                    <a:pt x="14922" y="383779"/>
                  </a:lnTo>
                  <a:lnTo>
                    <a:pt x="31075" y="394694"/>
                  </a:lnTo>
                  <a:lnTo>
                    <a:pt x="50800" y="398702"/>
                  </a:lnTo>
                  <a:lnTo>
                    <a:pt x="5533779" y="398702"/>
                  </a:lnTo>
                  <a:lnTo>
                    <a:pt x="5553504" y="394694"/>
                  </a:lnTo>
                  <a:lnTo>
                    <a:pt x="5569657" y="383779"/>
                  </a:lnTo>
                  <a:lnTo>
                    <a:pt x="5580571" y="367627"/>
                  </a:lnTo>
                  <a:lnTo>
                    <a:pt x="5584580" y="347902"/>
                  </a:lnTo>
                  <a:lnTo>
                    <a:pt x="5584580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8544" y="827028"/>
            <a:ext cx="5584825" cy="43116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445"/>
              </a:spcBef>
            </a:pPr>
            <a:r>
              <a:rPr spc="-45" dirty="0"/>
              <a:t>Gaussian</a:t>
            </a:r>
            <a:r>
              <a:rPr spc="-60" dirty="0"/>
              <a:t> </a:t>
            </a:r>
            <a:r>
              <a:rPr dirty="0"/>
              <a:t>Mixture</a:t>
            </a:r>
            <a:r>
              <a:rPr spc="-55" dirty="0"/>
              <a:t> </a:t>
            </a:r>
            <a:r>
              <a:rPr spc="-10" dirty="0"/>
              <a:t>Models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55216" y="1416988"/>
            <a:ext cx="2450465" cy="917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Aya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Saadaoui</a:t>
            </a: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40" dirty="0">
                <a:latin typeface="Tahoma"/>
                <a:cs typeface="Tahoma"/>
              </a:rPr>
              <a:t>Supervisor: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Dr.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Montassar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Messaoud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spc="-40" dirty="0">
                <a:latin typeface="Tahoma"/>
                <a:cs typeface="Tahoma"/>
              </a:rPr>
              <a:t>November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17,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2025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350520"/>
          </a:xfrm>
          <a:custGeom>
            <a:avLst/>
            <a:gdLst/>
            <a:ahLst/>
            <a:cxnLst/>
            <a:rect l="l" t="t" r="r" b="b"/>
            <a:pathLst>
              <a:path w="5760085" h="350520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Table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25" dirty="0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433298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43263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65709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582" y="82917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280" y="983970"/>
            <a:ext cx="160096" cy="1600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9743" y="98330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207769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1379842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1551914"/>
            <a:ext cx="65265" cy="652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280" y="1706714"/>
            <a:ext cx="160096" cy="16009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9582" y="1930514"/>
            <a:ext cx="65265" cy="6526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9582" y="2102586"/>
            <a:ext cx="65265" cy="6526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9582" y="2274658"/>
            <a:ext cx="65265" cy="6526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9582" y="2446743"/>
            <a:ext cx="65265" cy="6526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19582" y="2618816"/>
            <a:ext cx="65265" cy="6526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280" y="2773603"/>
            <a:ext cx="160096" cy="16009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9280" y="2980131"/>
            <a:ext cx="160096" cy="16009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9743" y="297946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Tahoma"/>
                <a:cs typeface="Tahoma"/>
              </a:rPr>
              <a:t>5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9743" y="405204"/>
            <a:ext cx="2817495" cy="2738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17" action="ppaction://hlinksldjump"/>
              </a:rPr>
              <a:t>Introduction</a:t>
            </a:r>
            <a:endParaRPr sz="1100">
              <a:latin typeface="Tahoma"/>
              <a:cs typeface="Tahoma"/>
            </a:endParaRPr>
          </a:p>
          <a:p>
            <a:pPr marL="316230" marR="1423035">
              <a:lnSpc>
                <a:spcPct val="102600"/>
              </a:lnSpc>
            </a:pPr>
            <a:r>
              <a:rPr sz="1100" dirty="0">
                <a:latin typeface="Tahoma"/>
                <a:cs typeface="Tahoma"/>
                <a:hlinkClick r:id="rId17" action="ppaction://hlinksldjump"/>
              </a:rPr>
              <a:t>What</a:t>
            </a:r>
            <a:r>
              <a:rPr sz="1100" spc="-45" dirty="0">
                <a:latin typeface="Tahoma"/>
                <a:cs typeface="Tahoma"/>
                <a:hlinkClick r:id="rId17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17" action="ppaction://hlinksldjump"/>
              </a:rPr>
              <a:t>is</a:t>
            </a:r>
            <a:r>
              <a:rPr sz="1100" spc="-35" dirty="0">
                <a:latin typeface="Tahoma"/>
                <a:cs typeface="Tahoma"/>
                <a:hlinkClick r:id="rId17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17" action="ppaction://hlinksldjump"/>
              </a:rPr>
              <a:t>a</a:t>
            </a:r>
            <a:r>
              <a:rPr sz="1100" spc="-35" dirty="0">
                <a:latin typeface="Tahoma"/>
                <a:cs typeface="Tahoma"/>
                <a:hlinkClick r:id="rId17" action="ppaction://hlinksldjump"/>
              </a:rPr>
              <a:t> </a:t>
            </a:r>
            <a:r>
              <a:rPr sz="1100" spc="-20" dirty="0">
                <a:latin typeface="Tahoma"/>
                <a:cs typeface="Tahoma"/>
                <a:hlinkClick r:id="rId17" action="ppaction://hlinksldjump"/>
              </a:rPr>
              <a:t>GMM?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  <a:hlinkClick r:id="rId18" action="ppaction://hlinksldjump"/>
              </a:rPr>
              <a:t>Origin</a:t>
            </a:r>
            <a:r>
              <a:rPr sz="1100" spc="-40" dirty="0">
                <a:latin typeface="Tahoma"/>
                <a:cs typeface="Tahoma"/>
                <a:hlinkClick r:id="rId18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18" action="ppaction://hlinksldjump"/>
              </a:rPr>
              <a:t>and </a:t>
            </a:r>
            <a:r>
              <a:rPr sz="1100" spc="-30" dirty="0">
                <a:latin typeface="Tahoma"/>
                <a:cs typeface="Tahoma"/>
                <a:hlinkClick r:id="rId18" action="ppaction://hlinksldjump"/>
              </a:rPr>
              <a:t>History</a:t>
            </a:r>
            <a:endParaRPr sz="1100">
              <a:latin typeface="Tahoma"/>
              <a:cs typeface="Tahoma"/>
            </a:endParaRPr>
          </a:p>
          <a:p>
            <a:pPr marL="177800">
              <a:lnSpc>
                <a:spcPct val="100000"/>
              </a:lnSpc>
              <a:spcBef>
                <a:spcPts val="305"/>
              </a:spcBef>
            </a:pPr>
            <a:r>
              <a:rPr sz="1100" spc="65" dirty="0">
                <a:solidFill>
                  <a:srgbClr val="3333B2"/>
                </a:solidFill>
                <a:latin typeface="Tahoma"/>
                <a:cs typeface="Tahoma"/>
                <a:hlinkClick r:id="rId19" action="ppaction://hlinksldjump"/>
              </a:rPr>
              <a:t>GMM</a:t>
            </a:r>
            <a:r>
              <a:rPr sz="1100" spc="-20" dirty="0">
                <a:solidFill>
                  <a:srgbClr val="3333B2"/>
                </a:solidFill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40" dirty="0">
                <a:solidFill>
                  <a:srgbClr val="3333B2"/>
                </a:solidFill>
                <a:latin typeface="Tahoma"/>
                <a:cs typeface="Tahoma"/>
                <a:hlinkClick r:id="rId19" action="ppaction://hlinksldjump"/>
              </a:rPr>
              <a:t>fundamentals</a:t>
            </a:r>
            <a:r>
              <a:rPr sz="1100" spc="-20" dirty="0">
                <a:solidFill>
                  <a:srgbClr val="3333B2"/>
                </a:solidFill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35" dirty="0">
                <a:solidFill>
                  <a:srgbClr val="3333B2"/>
                </a:solidFill>
                <a:latin typeface="Tahoma"/>
                <a:cs typeface="Tahoma"/>
                <a:hlinkClick r:id="rId19" action="ppaction://hlinksldjump"/>
              </a:rPr>
              <a:t>and</a:t>
            </a:r>
            <a:r>
              <a:rPr sz="1100" spc="-15" dirty="0">
                <a:solidFill>
                  <a:srgbClr val="3333B2"/>
                </a:solidFill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19" action="ppaction://hlinksldjump"/>
              </a:rPr>
              <a:t>mechanics</a:t>
            </a:r>
            <a:endParaRPr sz="1100">
              <a:latin typeface="Tahoma"/>
              <a:cs typeface="Tahoma"/>
            </a:endParaRPr>
          </a:p>
          <a:p>
            <a:pPr marL="316230" marR="5080">
              <a:lnSpc>
                <a:spcPct val="102600"/>
              </a:lnSpc>
            </a:pPr>
            <a:r>
              <a:rPr sz="1100" spc="-20" dirty="0">
                <a:latin typeface="Tahoma"/>
                <a:cs typeface="Tahoma"/>
                <a:hlinkClick r:id="rId19" action="ppaction://hlinksldjump"/>
              </a:rPr>
              <a:t>How</a:t>
            </a:r>
            <a:r>
              <a:rPr sz="1100" spc="-60" dirty="0"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19" action="ppaction://hlinksldjump"/>
              </a:rPr>
              <a:t>Likely</a:t>
            </a:r>
            <a:r>
              <a:rPr sz="1100" spc="-35" dirty="0"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80" dirty="0">
                <a:latin typeface="Tahoma"/>
                <a:cs typeface="Tahoma"/>
                <a:hlinkClick r:id="rId19" action="ppaction://hlinksldjump"/>
              </a:rPr>
              <a:t>Is</a:t>
            </a:r>
            <a:r>
              <a:rPr sz="1100" spc="-5" dirty="0"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19" action="ppaction://hlinksldjump"/>
              </a:rPr>
              <a:t>This</a:t>
            </a:r>
            <a:r>
              <a:rPr sz="1100" spc="-35" dirty="0"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19" action="ppaction://hlinksldjump"/>
              </a:rPr>
              <a:t>Point</a:t>
            </a:r>
            <a:r>
              <a:rPr sz="1100" spc="-35" dirty="0"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19" action="ppaction://hlinksldjump"/>
              </a:rPr>
              <a:t>in</a:t>
            </a:r>
            <a:r>
              <a:rPr sz="1100" spc="-30" dirty="0"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19" action="ppaction://hlinksldjump"/>
              </a:rPr>
              <a:t>Cluster</a:t>
            </a:r>
            <a:r>
              <a:rPr sz="1100" spc="-35" dirty="0">
                <a:latin typeface="Tahoma"/>
                <a:cs typeface="Tahoma"/>
                <a:hlinkClick r:id="rId19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19" action="ppaction://hlinksldjump"/>
              </a:rPr>
              <a:t>k?</a:t>
            </a:r>
            <a:r>
              <a:rPr sz="1100" spc="5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  <a:hlinkClick r:id="rId20" action="ppaction://hlinksldjump"/>
              </a:rPr>
              <a:t>How</a:t>
            </a:r>
            <a:r>
              <a:rPr sz="1100" spc="-45" dirty="0">
                <a:latin typeface="Tahoma"/>
                <a:cs typeface="Tahoma"/>
                <a:hlinkClick r:id="rId20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20" action="ppaction://hlinksldjump"/>
              </a:rPr>
              <a:t>Likely</a:t>
            </a:r>
            <a:r>
              <a:rPr sz="1100" spc="-25" dirty="0">
                <a:latin typeface="Tahoma"/>
                <a:cs typeface="Tahoma"/>
                <a:hlinkClick r:id="rId20" action="ppaction://hlinksldjump"/>
              </a:rPr>
              <a:t> </a:t>
            </a:r>
            <a:r>
              <a:rPr sz="1100" spc="-80" dirty="0">
                <a:latin typeface="Tahoma"/>
                <a:cs typeface="Tahoma"/>
                <a:hlinkClick r:id="rId20" action="ppaction://hlinksldjump"/>
              </a:rPr>
              <a:t>Is</a:t>
            </a:r>
            <a:r>
              <a:rPr sz="1100" spc="-10" dirty="0">
                <a:latin typeface="Tahoma"/>
                <a:cs typeface="Tahoma"/>
                <a:hlinkClick r:id="rId20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20" action="ppaction://hlinksldjump"/>
              </a:rPr>
              <a:t>This</a:t>
            </a:r>
            <a:r>
              <a:rPr sz="1100" spc="-25" dirty="0">
                <a:latin typeface="Tahoma"/>
                <a:cs typeface="Tahoma"/>
                <a:hlinkClick r:id="rId20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20" action="ppaction://hlinksldjump"/>
              </a:rPr>
              <a:t>Data</a:t>
            </a:r>
            <a:r>
              <a:rPr sz="1100" spc="-25" dirty="0">
                <a:latin typeface="Tahoma"/>
                <a:cs typeface="Tahoma"/>
                <a:hlinkClick r:id="rId20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20" action="ppaction://hlinksldjump"/>
              </a:rPr>
              <a:t>Point</a:t>
            </a:r>
            <a:r>
              <a:rPr sz="1100" spc="-25" dirty="0">
                <a:latin typeface="Tahoma"/>
                <a:cs typeface="Tahoma"/>
                <a:hlinkClick r:id="rId20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20" action="ppaction://hlinksldjump"/>
              </a:rPr>
              <a:t>Overall?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  <a:hlinkClick r:id="rId21" action="ppaction://hlinksldjump"/>
              </a:rPr>
              <a:t>Expectation-</a:t>
            </a:r>
            <a:r>
              <a:rPr sz="1100" spc="-20" dirty="0">
                <a:latin typeface="Tahoma"/>
                <a:cs typeface="Tahoma"/>
                <a:hlinkClick r:id="rId21" action="ppaction://hlinksldjump"/>
              </a:rPr>
              <a:t>Maximization</a:t>
            </a:r>
            <a:r>
              <a:rPr sz="1100" spc="125" dirty="0">
                <a:latin typeface="Tahoma"/>
                <a:cs typeface="Tahoma"/>
                <a:hlinkClick r:id="rId21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21" action="ppaction://hlinksldjump"/>
              </a:rPr>
              <a:t>(EM)</a:t>
            </a:r>
            <a:r>
              <a:rPr sz="1100" spc="130" dirty="0">
                <a:latin typeface="Tahoma"/>
                <a:cs typeface="Tahoma"/>
                <a:hlinkClick r:id="rId21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21" action="ppaction://hlinksldjump"/>
              </a:rPr>
              <a:t>Algorithm</a:t>
            </a:r>
            <a:endParaRPr sz="1100">
              <a:latin typeface="Tahoma"/>
              <a:cs typeface="Tahoma"/>
            </a:endParaRPr>
          </a:p>
          <a:p>
            <a:pPr marL="176530" marR="676275" indent="-164465">
              <a:lnSpc>
                <a:spcPct val="102600"/>
              </a:lnSpc>
              <a:spcBef>
                <a:spcPts val="275"/>
              </a:spcBef>
              <a:buClr>
                <a:srgbClr val="EAEAF7"/>
              </a:buClr>
              <a:buSzPct val="72727"/>
              <a:buAutoNum type="arabicPlain" startAt="3"/>
              <a:tabLst>
                <a:tab pos="316230" algn="l"/>
              </a:tabLst>
            </a:pPr>
            <a:r>
              <a:rPr sz="1100" spc="65" dirty="0">
                <a:solidFill>
                  <a:srgbClr val="3333B2"/>
                </a:solidFill>
                <a:latin typeface="Tahoma"/>
                <a:cs typeface="Tahoma"/>
                <a:hlinkClick r:id="rId22" action="ppaction://hlinksldjump"/>
              </a:rPr>
              <a:t>GMM</a:t>
            </a:r>
            <a:r>
              <a:rPr sz="1100" spc="10" dirty="0">
                <a:solidFill>
                  <a:srgbClr val="3333B2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22" action="ppaction://hlinksldjump"/>
              </a:rPr>
              <a:t>Experimentation</a:t>
            </a:r>
            <a:r>
              <a:rPr sz="1100" spc="15" dirty="0">
                <a:solidFill>
                  <a:srgbClr val="3333B2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sz="1100" spc="85" dirty="0">
                <a:solidFill>
                  <a:srgbClr val="3333B2"/>
                </a:solidFill>
                <a:latin typeface="Tahoma"/>
                <a:cs typeface="Tahoma"/>
                <a:hlinkClick r:id="rId22" action="ppaction://hlinksldjump"/>
              </a:rPr>
              <a:t>&amp;</a:t>
            </a:r>
            <a:r>
              <a:rPr sz="1100" spc="15" dirty="0">
                <a:solidFill>
                  <a:srgbClr val="3333B2"/>
                </a:solidFill>
                <a:latin typeface="Tahoma"/>
                <a:cs typeface="Tahoma"/>
                <a:hlinkClick r:id="rId22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22" action="ppaction://hlinksldjump"/>
              </a:rPr>
              <a:t>Results</a:t>
            </a:r>
            <a:r>
              <a:rPr sz="1100" spc="-10" dirty="0">
                <a:solidFill>
                  <a:srgbClr val="3333B2"/>
                </a:solidFill>
                <a:latin typeface="Tahoma"/>
                <a:cs typeface="Tahoma"/>
              </a:rPr>
              <a:t> 	</a:t>
            </a:r>
            <a:r>
              <a:rPr sz="1100" spc="-55" dirty="0">
                <a:latin typeface="Tahoma"/>
                <a:cs typeface="Tahoma"/>
                <a:hlinkClick r:id="rId22" action="ppaction://hlinksldjump"/>
              </a:rPr>
              <a:t>Research</a:t>
            </a:r>
            <a:r>
              <a:rPr sz="1100" spc="15" dirty="0">
                <a:latin typeface="Tahoma"/>
                <a:cs typeface="Tahoma"/>
                <a:hlinkClick r:id="rId22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22" action="ppaction://hlinksldjump"/>
              </a:rPr>
              <a:t>Questions</a:t>
            </a:r>
            <a:r>
              <a:rPr sz="1100" spc="15" dirty="0">
                <a:latin typeface="Tahoma"/>
                <a:cs typeface="Tahoma"/>
                <a:hlinkClick r:id="rId22" action="ppaction://hlinksldjump"/>
              </a:rPr>
              <a:t> </a:t>
            </a:r>
            <a:r>
              <a:rPr sz="1100" spc="85" dirty="0">
                <a:latin typeface="Tahoma"/>
                <a:cs typeface="Tahoma"/>
                <a:hlinkClick r:id="rId22" action="ppaction://hlinksldjump"/>
              </a:rPr>
              <a:t>&amp;</a:t>
            </a:r>
            <a:r>
              <a:rPr sz="1100" spc="15" dirty="0">
                <a:latin typeface="Tahoma"/>
                <a:cs typeface="Tahoma"/>
                <a:hlinkClick r:id="rId22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22" action="ppaction://hlinksldjump"/>
              </a:rPr>
              <a:t>Dataset</a:t>
            </a:r>
            <a:r>
              <a:rPr sz="1100" spc="-10" dirty="0">
                <a:latin typeface="Tahoma"/>
                <a:cs typeface="Tahoma"/>
              </a:rPr>
              <a:t> 	</a:t>
            </a:r>
            <a:r>
              <a:rPr sz="1100" spc="-25" dirty="0">
                <a:latin typeface="Tahoma"/>
                <a:cs typeface="Tahoma"/>
                <a:hlinkClick r:id="rId23" action="ppaction://hlinksldjump"/>
              </a:rPr>
              <a:t>Clustering</a:t>
            </a:r>
            <a:r>
              <a:rPr sz="1100" spc="-60" dirty="0">
                <a:latin typeface="Tahoma"/>
                <a:cs typeface="Tahoma"/>
                <a:hlinkClick r:id="rId23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23" action="ppaction://hlinksldjump"/>
              </a:rPr>
              <a:t>Metrics</a:t>
            </a:r>
            <a:r>
              <a:rPr sz="1100" spc="-50" dirty="0">
                <a:latin typeface="Tahoma"/>
                <a:cs typeface="Tahoma"/>
                <a:hlinkClick r:id="rId23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23" action="ppaction://hlinksldjump"/>
              </a:rPr>
              <a:t>Comparison</a:t>
            </a:r>
            <a:r>
              <a:rPr sz="1100" spc="-10" dirty="0">
                <a:latin typeface="Tahoma"/>
                <a:cs typeface="Tahoma"/>
              </a:rPr>
              <a:t> 	</a:t>
            </a:r>
            <a:r>
              <a:rPr sz="1100" spc="-45" dirty="0">
                <a:latin typeface="Tahoma"/>
                <a:cs typeface="Tahoma"/>
                <a:hlinkClick r:id="rId24" action="ppaction://hlinksldjump"/>
              </a:rPr>
              <a:t>Supervised</a:t>
            </a:r>
            <a:r>
              <a:rPr sz="1100" spc="-25" dirty="0">
                <a:latin typeface="Tahoma"/>
                <a:cs typeface="Tahoma"/>
                <a:hlinkClick r:id="rId24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24" action="ppaction://hlinksldjump"/>
              </a:rPr>
              <a:t>Models</a:t>
            </a:r>
            <a:r>
              <a:rPr sz="1100" spc="-30" dirty="0">
                <a:latin typeface="Tahoma"/>
                <a:cs typeface="Tahoma"/>
                <a:hlinkClick r:id="rId24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24" action="ppaction://hlinksldjump"/>
              </a:rPr>
              <a:t>Evaluation</a:t>
            </a:r>
            <a:r>
              <a:rPr sz="1100" spc="-10" dirty="0">
                <a:latin typeface="Tahoma"/>
                <a:cs typeface="Tahoma"/>
              </a:rPr>
              <a:t> 	</a:t>
            </a:r>
            <a:r>
              <a:rPr sz="1100" spc="-25" dirty="0">
                <a:latin typeface="Tahoma"/>
                <a:cs typeface="Tahoma"/>
                <a:hlinkClick r:id="rId25" action="ppaction://hlinksldjump"/>
              </a:rPr>
              <a:t>Clustering</a:t>
            </a:r>
            <a:r>
              <a:rPr sz="1100" spc="-40" dirty="0">
                <a:latin typeface="Tahoma"/>
                <a:cs typeface="Tahoma"/>
                <a:hlinkClick r:id="rId25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25" action="ppaction://hlinksldjump"/>
              </a:rPr>
              <a:t>Results</a:t>
            </a:r>
            <a:r>
              <a:rPr sz="1100" spc="-35" dirty="0">
                <a:latin typeface="Tahoma"/>
                <a:cs typeface="Tahoma"/>
                <a:hlinkClick r:id="rId25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25" action="ppaction://hlinksldjump"/>
              </a:rPr>
              <a:t>Visualization</a:t>
            </a:r>
            <a:r>
              <a:rPr sz="1100" spc="-25" dirty="0">
                <a:latin typeface="Tahoma"/>
                <a:cs typeface="Tahoma"/>
              </a:rPr>
              <a:t> 	</a:t>
            </a:r>
            <a:r>
              <a:rPr sz="1100" spc="-25" dirty="0">
                <a:latin typeface="Tahoma"/>
                <a:cs typeface="Tahoma"/>
                <a:hlinkClick r:id="rId26" action="ppaction://hlinksldjump"/>
              </a:rPr>
              <a:t>Explainability</a:t>
            </a:r>
            <a:r>
              <a:rPr sz="1100" spc="30" dirty="0">
                <a:latin typeface="Tahoma"/>
                <a:cs typeface="Tahoma"/>
                <a:hlinkClick r:id="rId26" action="ppaction://hlinksldjump"/>
              </a:rPr>
              <a:t> </a:t>
            </a:r>
            <a:r>
              <a:rPr sz="1100" spc="85" dirty="0">
                <a:latin typeface="Tahoma"/>
                <a:cs typeface="Tahoma"/>
                <a:hlinkClick r:id="rId26" action="ppaction://hlinksldjump"/>
              </a:rPr>
              <a:t>&amp;</a:t>
            </a:r>
            <a:r>
              <a:rPr sz="1100" spc="40" dirty="0">
                <a:latin typeface="Tahoma"/>
                <a:cs typeface="Tahoma"/>
                <a:hlinkClick r:id="rId26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26" action="ppaction://hlinksldjump"/>
              </a:rPr>
              <a:t>Complexity</a:t>
            </a:r>
            <a:endParaRPr sz="1100">
              <a:latin typeface="Tahoma"/>
              <a:cs typeface="Tahoma"/>
            </a:endParaRPr>
          </a:p>
          <a:p>
            <a:pPr marL="176530" marR="2009139" indent="-164465">
              <a:lnSpc>
                <a:spcPct val="123200"/>
              </a:lnSpc>
              <a:buClr>
                <a:srgbClr val="EAEAF7"/>
              </a:buClr>
              <a:buSzPct val="72727"/>
              <a:buAutoNum type="arabicPlain" startAt="3"/>
              <a:tabLst>
                <a:tab pos="177800" algn="l"/>
              </a:tabLst>
            </a:pPr>
            <a:r>
              <a:rPr sz="1100" spc="-40" dirty="0">
                <a:solidFill>
                  <a:srgbClr val="3333B2"/>
                </a:solidFill>
                <a:latin typeface="Tahoma"/>
                <a:cs typeface="Tahoma"/>
                <a:hlinkClick r:id="rId27" action="ppaction://hlinksldjump"/>
              </a:rPr>
              <a:t>Conclusion</a:t>
            </a:r>
            <a:r>
              <a:rPr sz="1100" spc="-40" dirty="0">
                <a:solidFill>
                  <a:srgbClr val="3333B2"/>
                </a:solidFill>
                <a:latin typeface="Tahoma"/>
                <a:cs typeface="Tahoma"/>
              </a:rPr>
              <a:t> 	</a:t>
            </a:r>
            <a:r>
              <a:rPr sz="1100" spc="-55" dirty="0">
                <a:solidFill>
                  <a:srgbClr val="3333B2"/>
                </a:solidFill>
                <a:latin typeface="Tahoma"/>
                <a:cs typeface="Tahoma"/>
                <a:hlinkClick r:id="rId28" action="ppaction://hlinksldjump"/>
              </a:rPr>
              <a:t>References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Gaussian</a:t>
            </a:r>
            <a:r>
              <a:rPr spc="-50" dirty="0"/>
              <a:t> </a:t>
            </a:r>
            <a:r>
              <a:rPr dirty="0"/>
              <a:t>Mixture</a:t>
            </a:r>
            <a:r>
              <a:rPr spc="-45" dirty="0"/>
              <a:t> </a:t>
            </a:r>
            <a:r>
              <a:rPr dirty="0"/>
              <a:t>Model</a:t>
            </a:r>
            <a:r>
              <a:rPr spc="-50" dirty="0"/>
              <a:t> </a:t>
            </a:r>
            <a:r>
              <a:rPr spc="45" dirty="0"/>
              <a:t>(GMM)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78294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6755" y="699489"/>
            <a:ext cx="2465705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GMM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assumes</a:t>
            </a:r>
            <a:r>
              <a:rPr sz="1100" spc="-10" dirty="0">
                <a:latin typeface="Tahoma"/>
                <a:cs typeface="Tahoma"/>
              </a:rPr>
              <a:t> data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several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(Normal)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distributions.</a:t>
            </a:r>
            <a:endParaRPr sz="1100">
              <a:latin typeface="Tahoma"/>
              <a:cs typeface="Tahoma"/>
            </a:endParaRPr>
          </a:p>
          <a:p>
            <a:pPr marL="12700" marR="347980">
              <a:lnSpc>
                <a:spcPct val="102699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distribution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represents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latent </a:t>
            </a:r>
            <a:r>
              <a:rPr sz="1100" spc="-30" dirty="0">
                <a:latin typeface="Tahoma"/>
                <a:cs typeface="Tahoma"/>
              </a:rPr>
              <a:t>cluster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  <a:p>
            <a:pPr marL="12700" marR="98425">
              <a:lnSpc>
                <a:spcPct val="102600"/>
              </a:lnSpc>
              <a:spcBef>
                <a:spcPts val="300"/>
              </a:spcBef>
            </a:pPr>
            <a:r>
              <a:rPr sz="1100" spc="-10" dirty="0">
                <a:latin typeface="Tahoma"/>
                <a:cs typeface="Tahoma"/>
              </a:rPr>
              <a:t>Unlike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K-</a:t>
            </a:r>
            <a:r>
              <a:rPr sz="1100" dirty="0">
                <a:latin typeface="Tahoma"/>
                <a:cs typeface="Tahoma"/>
              </a:rPr>
              <a:t>Means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(hard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clustering),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40" dirty="0">
                <a:latin typeface="Tahoma"/>
                <a:cs typeface="Tahoma"/>
              </a:rPr>
              <a:t>GMM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soft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clustering, </a:t>
            </a:r>
            <a:r>
              <a:rPr sz="1100" spc="-40" dirty="0">
                <a:latin typeface="Tahoma"/>
                <a:cs typeface="Tahoma"/>
              </a:rPr>
              <a:t>each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45" dirty="0">
                <a:latin typeface="Tahoma"/>
                <a:cs typeface="Tahoma"/>
              </a:rPr>
              <a:t> has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30" dirty="0">
                <a:latin typeface="Tahoma"/>
                <a:cs typeface="Tahoma"/>
              </a:rPr>
              <a:t>probability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belonging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cluster.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165047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54715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61733" y="740255"/>
            <a:ext cx="2674290" cy="195140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1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13963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Origin</a:t>
            </a:r>
            <a:r>
              <a:rPr spc="-75" dirty="0"/>
              <a:t> </a:t>
            </a:r>
            <a:r>
              <a:rPr spc="-30" dirty="0"/>
              <a:t>and</a:t>
            </a:r>
            <a:r>
              <a:rPr spc="-70" dirty="0"/>
              <a:t> </a:t>
            </a:r>
            <a:r>
              <a:rPr spc="-20" dirty="0"/>
              <a:t>History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1182" y="1127036"/>
            <a:ext cx="4320540" cy="88900"/>
            <a:chOff x="771182" y="1127036"/>
            <a:chExt cx="4320540" cy="88900"/>
          </a:xfrm>
        </p:grpSpPr>
        <p:sp>
          <p:nvSpPr>
            <p:cNvPr id="4" name="object 4"/>
            <p:cNvSpPr/>
            <p:nvPr/>
          </p:nvSpPr>
          <p:spPr>
            <a:xfrm>
              <a:off x="771182" y="1171320"/>
              <a:ext cx="4283710" cy="0"/>
            </a:xfrm>
            <a:custGeom>
              <a:avLst/>
              <a:gdLst/>
              <a:ahLst/>
              <a:cxnLst/>
              <a:rect l="l" t="t" r="r" b="b"/>
              <a:pathLst>
                <a:path w="4283710">
                  <a:moveTo>
                    <a:pt x="0" y="0"/>
                  </a:moveTo>
                  <a:lnTo>
                    <a:pt x="4283360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32527" y="1141966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0" y="0"/>
                  </a:moveTo>
                  <a:lnTo>
                    <a:pt x="22015" y="29354"/>
                  </a:lnTo>
                  <a:lnTo>
                    <a:pt x="0" y="58708"/>
                  </a:lnTo>
                  <a:lnTo>
                    <a:pt x="58708" y="293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6901" y="1127036"/>
              <a:ext cx="88569" cy="885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6924" y="1127036"/>
              <a:ext cx="88569" cy="8856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86946" y="1127036"/>
              <a:ext cx="88569" cy="8856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36600" y="1226666"/>
            <a:ext cx="1788795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1894</a:t>
            </a:r>
            <a:endParaRPr sz="110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Karl</a:t>
            </a:r>
            <a:r>
              <a:rPr sz="1100" spc="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0000FF"/>
                </a:solidFill>
                <a:latin typeface="Tahoma"/>
                <a:cs typeface="Tahoma"/>
              </a:rPr>
              <a:t>Pearson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First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mixture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Gaussians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4285" y="1226666"/>
            <a:ext cx="1494790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1977</a:t>
            </a:r>
            <a:endParaRPr sz="1100">
              <a:latin typeface="Tahoma"/>
              <a:cs typeface="Tahoma"/>
            </a:endParaRPr>
          </a:p>
          <a:p>
            <a:pPr marL="12700" marR="5080" algn="ctr">
              <a:lnSpc>
                <a:spcPct val="102600"/>
              </a:lnSpc>
            </a:pPr>
            <a:r>
              <a:rPr sz="1100" spc="-40" dirty="0">
                <a:solidFill>
                  <a:srgbClr val="0000FF"/>
                </a:solidFill>
                <a:latin typeface="Tahoma"/>
                <a:cs typeface="Tahoma"/>
              </a:rPr>
              <a:t>Dempster,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0000FF"/>
                </a:solidFill>
                <a:latin typeface="Tahoma"/>
                <a:cs typeface="Tahoma"/>
              </a:rPr>
              <a:t>Laird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85" dirty="0">
                <a:solidFill>
                  <a:srgbClr val="0000FF"/>
                </a:solidFill>
                <a:latin typeface="Tahoma"/>
                <a:cs typeface="Tahoma"/>
              </a:rPr>
              <a:t>&amp;</a:t>
            </a:r>
            <a:r>
              <a:rPr sz="1100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0000FF"/>
                </a:solidFill>
                <a:latin typeface="Tahoma"/>
                <a:cs typeface="Tahoma"/>
              </a:rPr>
              <a:t>Rubin </a:t>
            </a:r>
            <a:r>
              <a:rPr sz="1100" spc="65" dirty="0">
                <a:latin typeface="Tahoma"/>
                <a:cs typeface="Tahoma"/>
              </a:rPr>
              <a:t>EM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Algorithm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formalized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38968" y="1232050"/>
            <a:ext cx="1584960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1468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Today</a:t>
            </a:r>
            <a:endParaRPr sz="1100">
              <a:latin typeface="Tahoma"/>
              <a:cs typeface="Tahoma"/>
            </a:endParaRPr>
          </a:p>
          <a:p>
            <a:pPr marL="243840" marR="5080" indent="-231775">
              <a:lnSpc>
                <a:spcPct val="102600"/>
              </a:lnSpc>
            </a:pPr>
            <a:r>
              <a:rPr sz="1100" spc="65" dirty="0">
                <a:latin typeface="Tahoma"/>
                <a:cs typeface="Tahoma"/>
              </a:rPr>
              <a:t>GMM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clustering, anomaly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detection, </a:t>
            </a:r>
            <a:r>
              <a:rPr sz="1100" spc="-35" dirty="0">
                <a:latin typeface="Tahoma"/>
                <a:cs typeface="Tahoma"/>
              </a:rPr>
              <a:t>density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estimation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2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How</a:t>
            </a:r>
            <a:r>
              <a:rPr spc="-55" dirty="0"/>
              <a:t> </a:t>
            </a:r>
            <a:r>
              <a:rPr spc="-10" dirty="0"/>
              <a:t>Likely</a:t>
            </a:r>
            <a:r>
              <a:rPr spc="-30" dirty="0"/>
              <a:t> </a:t>
            </a:r>
            <a:r>
              <a:rPr spc="-105" dirty="0"/>
              <a:t>Is</a:t>
            </a:r>
            <a:r>
              <a:rPr spc="-5" dirty="0"/>
              <a:t> </a:t>
            </a:r>
            <a:r>
              <a:rPr dirty="0"/>
              <a:t>This</a:t>
            </a:r>
            <a:r>
              <a:rPr spc="-30" dirty="0"/>
              <a:t> </a:t>
            </a:r>
            <a:r>
              <a:rPr dirty="0"/>
              <a:t>Point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Cluster</a:t>
            </a:r>
            <a:r>
              <a:rPr spc="-30" dirty="0"/>
              <a:t> </a:t>
            </a:r>
            <a:r>
              <a:rPr spc="-25" dirty="0"/>
              <a:t>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384" y="943672"/>
            <a:ext cx="1061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|</a:t>
            </a:r>
            <a:r>
              <a:rPr sz="1100" i="1" spc="-1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0718" y="849946"/>
            <a:ext cx="1162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libri"/>
                <a:cs typeface="Calibri"/>
              </a:rPr>
              <a:t>π</a:t>
            </a:r>
            <a:r>
              <a:rPr sz="1200" i="1" baseline="-13888" dirty="0">
                <a:latin typeface="Arial"/>
                <a:cs typeface="Arial"/>
              </a:rPr>
              <a:t>k</a:t>
            </a:r>
            <a:r>
              <a:rPr sz="1200" i="1" spc="209" baseline="-13888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32" baseline="-10416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| </a:t>
            </a:r>
            <a:r>
              <a:rPr sz="1100" i="1" spc="70" dirty="0">
                <a:latin typeface="Calibri"/>
                <a:cs typeface="Calibri"/>
              </a:rPr>
              <a:t>µ</a:t>
            </a:r>
            <a:r>
              <a:rPr sz="1200" i="1" spc="104" baseline="-13888" dirty="0">
                <a:latin typeface="Arial"/>
                <a:cs typeface="Arial"/>
              </a:rPr>
              <a:t>k</a:t>
            </a:r>
            <a:r>
              <a:rPr sz="1100" i="1" spc="70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spc="85" dirty="0">
                <a:latin typeface="Tahoma"/>
                <a:cs typeface="Tahoma"/>
              </a:rPr>
              <a:t>Σ</a:t>
            </a:r>
            <a:r>
              <a:rPr sz="1200" i="1" spc="127" baseline="-13888" dirty="0">
                <a:latin typeface="Arial"/>
                <a:cs typeface="Arial"/>
              </a:rPr>
              <a:t>k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81823" y="1060272"/>
            <a:ext cx="1459865" cy="0"/>
          </a:xfrm>
          <a:custGeom>
            <a:avLst/>
            <a:gdLst/>
            <a:ahLst/>
            <a:cxnLst/>
            <a:rect l="l" t="t" r="r" b="b"/>
            <a:pathLst>
              <a:path w="1459864">
                <a:moveTo>
                  <a:pt x="0" y="0"/>
                </a:moveTo>
                <a:lnTo>
                  <a:pt x="145985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09058" y="841985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0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7127" y="711242"/>
            <a:ext cx="346843" cy="371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94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lang="fr-FR" sz="800" i="1" spc="-50" dirty="0">
              <a:latin typeface="Arial"/>
              <a:cs typeface="Arial"/>
            </a:endParaRPr>
          </a:p>
          <a:p>
            <a:pPr marL="12700">
              <a:lnSpc>
                <a:spcPts val="894"/>
              </a:lnSpc>
              <a:spcBef>
                <a:spcPts val="95"/>
              </a:spcBef>
            </a:pPr>
            <a:endParaRPr sz="800" dirty="0">
              <a:latin typeface="Arial"/>
              <a:cs typeface="Arial"/>
            </a:endParaRPr>
          </a:p>
          <a:p>
            <a:pPr marL="12700">
              <a:lnSpc>
                <a:spcPts val="894"/>
              </a:lnSpc>
            </a:pPr>
            <a:r>
              <a:rPr sz="800" i="1" spc="-25" dirty="0">
                <a:latin typeface="Arial"/>
                <a:cs typeface="Arial"/>
              </a:rPr>
              <a:t>k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7713" y="1062569"/>
            <a:ext cx="11620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libri"/>
                <a:cs typeface="Calibri"/>
              </a:rPr>
              <a:t>π</a:t>
            </a:r>
            <a:r>
              <a:rPr sz="1200" i="1" baseline="-13888" dirty="0">
                <a:latin typeface="Arial"/>
                <a:cs typeface="Arial"/>
              </a:rPr>
              <a:t>k</a:t>
            </a:r>
            <a:r>
              <a:rPr sz="1200" i="1" spc="209" baseline="-13888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32" baseline="-10416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| </a:t>
            </a:r>
            <a:r>
              <a:rPr sz="1100" i="1" spc="70" dirty="0">
                <a:latin typeface="Calibri"/>
                <a:cs typeface="Calibri"/>
              </a:rPr>
              <a:t>µ</a:t>
            </a:r>
            <a:r>
              <a:rPr sz="1200" i="1" spc="104" baseline="-13888" dirty="0">
                <a:latin typeface="Arial"/>
                <a:cs typeface="Arial"/>
              </a:rPr>
              <a:t>k</a:t>
            </a:r>
            <a:r>
              <a:rPr sz="1100" i="1" spc="70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spc="85" dirty="0">
                <a:latin typeface="Tahoma"/>
                <a:cs typeface="Tahoma"/>
              </a:rPr>
              <a:t>Σ</a:t>
            </a:r>
            <a:r>
              <a:rPr sz="1200" i="1" spc="127" baseline="-13888" dirty="0">
                <a:latin typeface="Arial"/>
                <a:cs typeface="Arial"/>
              </a:rPr>
              <a:t>k</a:t>
            </a:r>
            <a:r>
              <a:rPr sz="1200" i="1" spc="-157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645056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2027161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2409266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4267" y="1307793"/>
            <a:ext cx="2837180" cy="13817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where:</a:t>
            </a:r>
            <a:endParaRPr sz="1100" dirty="0">
              <a:latin typeface="Tahoma"/>
              <a:cs typeface="Tahoma"/>
            </a:endParaRPr>
          </a:p>
          <a:p>
            <a:pPr marL="314960" marR="30480">
              <a:lnSpc>
                <a:spcPct val="102600"/>
              </a:lnSpc>
              <a:spcBef>
                <a:spcPts val="300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15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latent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indicating </a:t>
            </a:r>
            <a:r>
              <a:rPr sz="1100" spc="-35" dirty="0">
                <a:latin typeface="Tahoma"/>
                <a:cs typeface="Tahoma"/>
              </a:rPr>
              <a:t>which Gaussian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belongs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to.</a:t>
            </a:r>
            <a:endParaRPr sz="1100" dirty="0">
              <a:latin typeface="Tahoma"/>
              <a:cs typeface="Tahoma"/>
            </a:endParaRPr>
          </a:p>
          <a:p>
            <a:pPr marL="314960" marR="248920">
              <a:lnSpc>
                <a:spcPct val="102600"/>
              </a:lnSpc>
              <a:spcBef>
                <a:spcPts val="300"/>
              </a:spcBef>
            </a:pPr>
            <a:r>
              <a:rPr sz="1100" i="1" dirty="0">
                <a:latin typeface="Calibri"/>
                <a:cs typeface="Calibri"/>
              </a:rPr>
              <a:t>π</a:t>
            </a:r>
            <a:r>
              <a:rPr sz="1200" i="1" baseline="-13888" dirty="0">
                <a:latin typeface="Arial"/>
                <a:cs typeface="Arial"/>
              </a:rPr>
              <a:t>k</a:t>
            </a:r>
            <a:r>
              <a:rPr sz="1200" i="1" spc="284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mixing probability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25" dirty="0">
                <a:latin typeface="Tahoma"/>
                <a:cs typeface="Tahoma"/>
              </a:rPr>
              <a:t>th </a:t>
            </a:r>
            <a:r>
              <a:rPr sz="1100" spc="-10" dirty="0">
                <a:latin typeface="Tahoma"/>
                <a:cs typeface="Tahoma"/>
              </a:rPr>
              <a:t>Gaussian.</a:t>
            </a:r>
            <a:endParaRPr sz="1100" dirty="0">
              <a:latin typeface="Tahoma"/>
              <a:cs typeface="Tahoma"/>
            </a:endParaRPr>
          </a:p>
          <a:p>
            <a:pPr marL="314960" marR="55880">
              <a:lnSpc>
                <a:spcPct val="102600"/>
              </a:lnSpc>
              <a:spcBef>
                <a:spcPts val="300"/>
              </a:spcBef>
            </a:pP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127" baseline="-10416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|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70" dirty="0">
                <a:latin typeface="Calibri"/>
                <a:cs typeface="Calibri"/>
              </a:rPr>
              <a:t>µ</a:t>
            </a:r>
            <a:r>
              <a:rPr sz="1200" i="1" spc="104" baseline="-13888" dirty="0">
                <a:latin typeface="Arial"/>
                <a:cs typeface="Arial"/>
              </a:rPr>
              <a:t>k</a:t>
            </a:r>
            <a:r>
              <a:rPr sz="1100" i="1" spc="7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85" dirty="0">
                <a:latin typeface="Tahoma"/>
                <a:cs typeface="Tahoma"/>
              </a:rPr>
              <a:t>Σ</a:t>
            </a:r>
            <a:r>
              <a:rPr sz="1200" i="1" spc="127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distribution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µ</a:t>
            </a:r>
            <a:r>
              <a:rPr sz="1200" i="1" baseline="-13888" dirty="0">
                <a:latin typeface="Arial"/>
                <a:cs typeface="Arial"/>
              </a:rPr>
              <a:t>k</a:t>
            </a:r>
            <a:r>
              <a:rPr sz="1200" i="1" spc="337" baseline="-13888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85" dirty="0">
                <a:latin typeface="Tahoma"/>
                <a:cs typeface="Tahoma"/>
              </a:rPr>
              <a:t>Σ</a:t>
            </a:r>
            <a:r>
              <a:rPr sz="1200" i="1" spc="127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0349" y="837137"/>
            <a:ext cx="2467313" cy="185465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3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How</a:t>
            </a:r>
            <a:r>
              <a:rPr spc="-30" dirty="0"/>
              <a:t> </a:t>
            </a:r>
            <a:r>
              <a:rPr spc="-10" dirty="0"/>
              <a:t>Likely</a:t>
            </a:r>
            <a:r>
              <a:rPr spc="-20" dirty="0"/>
              <a:t> </a:t>
            </a:r>
            <a:r>
              <a:rPr spc="-105" dirty="0"/>
              <a:t>Is</a:t>
            </a:r>
            <a:r>
              <a:rPr spc="-5" dirty="0"/>
              <a:t> </a:t>
            </a:r>
            <a:r>
              <a:rPr dirty="0"/>
              <a:t>This</a:t>
            </a:r>
            <a:r>
              <a:rPr spc="-1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Point</a:t>
            </a:r>
            <a:r>
              <a:rPr spc="-15" dirty="0"/>
              <a:t> </a:t>
            </a:r>
            <a:r>
              <a:rPr spc="-10" dirty="0"/>
              <a:t>Overall?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194" y="693180"/>
            <a:ext cx="2953299" cy="158475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21937" y="642085"/>
            <a:ext cx="100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9237" y="806808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63048" y="837843"/>
            <a:ext cx="1491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16585" algn="l"/>
                <a:tab pos="934085" algn="l"/>
                <a:tab pos="1196340" algn="l"/>
                <a:tab pos="1425575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5281" y="777949"/>
            <a:ext cx="177736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55650" algn="l"/>
              </a:tabLst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Calibri"/>
                <a:cs typeface="Calibri"/>
              </a:rPr>
              <a:t>π</a:t>
            </a:r>
            <a:r>
              <a:rPr sz="1100" i="1" spc="475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9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| </a:t>
            </a:r>
            <a:r>
              <a:rPr sz="1100" i="1" spc="60" dirty="0">
                <a:latin typeface="Calibri"/>
                <a:cs typeface="Calibri"/>
              </a:rPr>
              <a:t>µ</a:t>
            </a:r>
            <a:r>
              <a:rPr sz="1100" i="1" spc="2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spc="170" dirty="0">
                <a:latin typeface="Tahoma"/>
                <a:cs typeface="Tahoma"/>
              </a:rPr>
              <a:t>Σ</a:t>
            </a:r>
            <a:r>
              <a:rPr sz="1100" spc="2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2894" y="1445971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2894" y="1828076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42894" y="2554338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149549" y="951131"/>
            <a:ext cx="2515235" cy="188404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R="450215" algn="ctr">
              <a:lnSpc>
                <a:spcPct val="100000"/>
              </a:lnSpc>
              <a:spcBef>
                <a:spcPts val="360"/>
              </a:spcBef>
            </a:pPr>
            <a:r>
              <a:rPr sz="800" i="1" spc="-25" dirty="0">
                <a:latin typeface="Arial"/>
                <a:cs typeface="Arial"/>
              </a:rPr>
              <a:t>k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55"/>
              </a:spcBef>
            </a:pPr>
            <a:r>
              <a:rPr sz="1100" spc="-10" dirty="0">
                <a:latin typeface="Tahoma"/>
                <a:cs typeface="Tahoma"/>
              </a:rPr>
              <a:t>where:</a:t>
            </a:r>
            <a:endParaRPr sz="1100" dirty="0">
              <a:latin typeface="Tahoma"/>
              <a:cs typeface="Tahoma"/>
            </a:endParaRPr>
          </a:p>
          <a:p>
            <a:pPr marL="327660" marR="309880">
              <a:lnSpc>
                <a:spcPct val="102699"/>
              </a:lnSpc>
              <a:spcBef>
                <a:spcPts val="300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overall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likelihood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50" dirty="0">
                <a:latin typeface="Tahoma"/>
                <a:cs typeface="Tahoma"/>
              </a:rPr>
              <a:t>observing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327660" marR="431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sum</a:t>
            </a:r>
            <a:r>
              <a:rPr sz="1100" spc="-35" dirty="0">
                <a:latin typeface="Tahoma"/>
                <a:cs typeface="Tahoma"/>
              </a:rPr>
              <a:t> accounts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possible </a:t>
            </a:r>
            <a:r>
              <a:rPr sz="1100" spc="-45" dirty="0">
                <a:latin typeface="Tahoma"/>
                <a:cs typeface="Tahoma"/>
              </a:rPr>
              <a:t>Gaussians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 </a:t>
            </a:r>
            <a:r>
              <a:rPr sz="1100" spc="-30" dirty="0">
                <a:latin typeface="Tahoma"/>
                <a:cs typeface="Tahoma"/>
              </a:rPr>
              <a:t>probability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50" dirty="0">
                <a:latin typeface="Tahoma"/>
                <a:cs typeface="Tahoma"/>
              </a:rPr>
              <a:t>observing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sum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contributions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Gaussians.</a:t>
            </a:r>
            <a:endParaRPr sz="1100" dirty="0">
              <a:latin typeface="Tahoma"/>
              <a:cs typeface="Tahoma"/>
            </a:endParaRPr>
          </a:p>
          <a:p>
            <a:pPr marL="327660" marR="384810">
              <a:lnSpc>
                <a:spcPct val="102600"/>
              </a:lnSpc>
              <a:spcBef>
                <a:spcPts val="295"/>
              </a:spcBef>
            </a:pPr>
            <a:r>
              <a:rPr sz="1100" dirty="0">
                <a:latin typeface="Tahoma"/>
                <a:cs typeface="Tahoma"/>
              </a:rPr>
              <a:t>Each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contributes </a:t>
            </a:r>
            <a:r>
              <a:rPr sz="1100" spc="-35" dirty="0">
                <a:latin typeface="Tahoma"/>
                <a:cs typeface="Tahoma"/>
              </a:rPr>
              <a:t>proportionally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weight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π</a:t>
            </a:r>
            <a:r>
              <a:rPr sz="1200" i="1" baseline="-13888" dirty="0">
                <a:latin typeface="Arial"/>
                <a:cs typeface="Arial"/>
              </a:rPr>
              <a:t>k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4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27089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GMM</a:t>
            </a:r>
            <a:r>
              <a:rPr spc="-15" dirty="0"/>
              <a:t> </a:t>
            </a:r>
            <a:r>
              <a:rPr spc="-20" dirty="0"/>
              <a:t>Likelihood</a:t>
            </a:r>
            <a:r>
              <a:rPr spc="-10" dirty="0"/>
              <a:t> </a:t>
            </a:r>
            <a:r>
              <a:rPr spc="-30" dirty="0"/>
              <a:t>and</a:t>
            </a:r>
            <a:r>
              <a:rPr spc="-10" dirty="0"/>
              <a:t> </a:t>
            </a:r>
            <a:r>
              <a:rPr spc="90" dirty="0"/>
              <a:t>EM</a:t>
            </a:r>
            <a:r>
              <a:rPr spc="-1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509" y="750708"/>
            <a:ext cx="51498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1300" algn="l"/>
                <a:tab pos="448945" algn="l"/>
              </a:tabLst>
            </a:pPr>
            <a:r>
              <a:rPr sz="800" i="1" spc="-50" dirty="0">
                <a:latin typeface="Arial"/>
                <a:cs typeface="Arial"/>
              </a:rPr>
              <a:t>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102" y="690815"/>
            <a:ext cx="942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L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Calibri"/>
                <a:cs typeface="Calibri"/>
              </a:rPr>
              <a:t>µ</a:t>
            </a:r>
            <a:r>
              <a:rPr sz="1100" i="1" spc="30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spc="170" dirty="0">
                <a:latin typeface="Tahoma"/>
                <a:cs typeface="Tahoma"/>
              </a:rPr>
              <a:t>Σ</a:t>
            </a:r>
            <a:r>
              <a:rPr sz="1100" spc="21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π</a:t>
            </a:r>
            <a:r>
              <a:rPr sz="1100" i="1" spc="30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5336" y="554963"/>
            <a:ext cx="3194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1775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7213" y="673952"/>
            <a:ext cx="44323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90"/>
              </a:spcBef>
            </a:pPr>
            <a:r>
              <a:rPr sz="1100" spc="700" dirty="0">
                <a:latin typeface="Lucida Sans Unicode"/>
                <a:cs typeface="Lucida Sans Unicode"/>
              </a:rPr>
              <a:t>Y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59927" y="750708"/>
            <a:ext cx="88709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9565" algn="l"/>
                <a:tab pos="592455" algn="l"/>
                <a:tab pos="821055" algn="l"/>
              </a:tabLst>
            </a:pPr>
            <a:r>
              <a:rPr sz="800" i="1" spc="-50" dirty="0">
                <a:latin typeface="Arial"/>
                <a:cs typeface="Arial"/>
              </a:rPr>
              <a:t>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0959" y="690815"/>
            <a:ext cx="10344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libri"/>
                <a:cs typeface="Calibri"/>
              </a:rPr>
              <a:t>π</a:t>
            </a:r>
            <a:r>
              <a:rPr sz="1100" i="1" spc="475" dirty="0">
                <a:latin typeface="Calibri"/>
                <a:cs typeface="Calibri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9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| </a:t>
            </a:r>
            <a:r>
              <a:rPr sz="1100" i="1" spc="60" dirty="0">
                <a:latin typeface="Calibri"/>
                <a:cs typeface="Calibri"/>
              </a:rPr>
              <a:t>µ</a:t>
            </a:r>
            <a:r>
              <a:rPr sz="1100" i="1" spc="29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spc="170" dirty="0">
                <a:latin typeface="Tahoma"/>
                <a:cs typeface="Tahoma"/>
              </a:rPr>
              <a:t>Σ</a:t>
            </a:r>
            <a:r>
              <a:rPr sz="1100" spc="2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67" y="1173364"/>
            <a:ext cx="3039110" cy="178435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43815">
              <a:lnSpc>
                <a:spcPct val="102600"/>
              </a:lnSpc>
              <a:spcBef>
                <a:spcPts val="55"/>
              </a:spcBef>
            </a:pPr>
            <a:r>
              <a:rPr sz="1100" b="1" spc="-10" dirty="0">
                <a:latin typeface="Arial"/>
                <a:cs typeface="Arial"/>
              </a:rPr>
              <a:t>Initialization:</a:t>
            </a:r>
            <a:r>
              <a:rPr sz="1100" b="1" spc="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Start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0" dirty="0">
                <a:latin typeface="Tahoma"/>
                <a:cs typeface="Tahoma"/>
              </a:rPr>
              <a:t> random </a:t>
            </a:r>
            <a:r>
              <a:rPr sz="1100" spc="-80" dirty="0">
                <a:latin typeface="Tahoma"/>
                <a:cs typeface="Tahoma"/>
              </a:rPr>
              <a:t>guesses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mean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Calibri"/>
                <a:cs typeface="Calibri"/>
              </a:rPr>
              <a:t>µ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(Σ),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mixing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weights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Calibri"/>
                <a:cs typeface="Calibri"/>
              </a:rPr>
              <a:t>π</a:t>
            </a:r>
            <a:r>
              <a:rPr sz="1100" spc="-20" dirty="0">
                <a:latin typeface="Tahoma"/>
                <a:cs typeface="Tahoma"/>
              </a:rPr>
              <a:t>).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570"/>
              </a:spcBef>
            </a:pPr>
            <a:r>
              <a:rPr sz="1100" b="1" spc="-10" dirty="0">
                <a:latin typeface="Arial"/>
                <a:cs typeface="Arial"/>
              </a:rPr>
              <a:t>E-</a:t>
            </a:r>
            <a:r>
              <a:rPr sz="1100" b="1" spc="-25" dirty="0">
                <a:latin typeface="Arial"/>
                <a:cs typeface="Arial"/>
              </a:rPr>
              <a:t>step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(Expectation):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Compute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probability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belongs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each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Gaussian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(soft </a:t>
            </a:r>
            <a:r>
              <a:rPr sz="1100" spc="-10" dirty="0">
                <a:latin typeface="Tahoma"/>
                <a:cs typeface="Tahoma"/>
              </a:rPr>
              <a:t>assignment).</a:t>
            </a:r>
            <a:endParaRPr sz="1100" dirty="0">
              <a:latin typeface="Tahoma"/>
              <a:cs typeface="Tahoma"/>
            </a:endParaRPr>
          </a:p>
          <a:p>
            <a:pPr marL="12700" marR="130810">
              <a:lnSpc>
                <a:spcPct val="102600"/>
              </a:lnSpc>
              <a:spcBef>
                <a:spcPts val="565"/>
              </a:spcBef>
            </a:pPr>
            <a:r>
              <a:rPr sz="1100" b="1" spc="85" dirty="0">
                <a:latin typeface="Arial"/>
                <a:cs typeface="Arial"/>
              </a:rPr>
              <a:t>M-</a:t>
            </a:r>
            <a:r>
              <a:rPr sz="1100" b="1" spc="-25" dirty="0">
                <a:latin typeface="Arial"/>
                <a:cs typeface="Arial"/>
              </a:rPr>
              <a:t>step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(Maximization):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Update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means, </a:t>
            </a:r>
            <a:r>
              <a:rPr sz="1100" spc="-50" dirty="0">
                <a:latin typeface="Tahoma"/>
                <a:cs typeface="Tahoma"/>
              </a:rPr>
              <a:t>covariances,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weights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using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probabilities.</a:t>
            </a:r>
            <a:endParaRPr sz="1100" dirty="0">
              <a:latin typeface="Tahoma"/>
              <a:cs typeface="Tahoma"/>
            </a:endParaRPr>
          </a:p>
          <a:p>
            <a:pPr marL="12700" marR="148590">
              <a:lnSpc>
                <a:spcPct val="102600"/>
              </a:lnSpc>
              <a:spcBef>
                <a:spcPts val="570"/>
              </a:spcBef>
            </a:pPr>
            <a:r>
              <a:rPr sz="1100" b="1" spc="-10" dirty="0">
                <a:latin typeface="Arial"/>
                <a:cs typeface="Arial"/>
              </a:rPr>
              <a:t>Repeat:</a:t>
            </a:r>
            <a:r>
              <a:rPr sz="1100" b="1" spc="120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Iterate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100" dirty="0">
                <a:latin typeface="Tahoma"/>
                <a:cs typeface="Tahoma"/>
              </a:rPr>
              <a:t>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steps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until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convergence </a:t>
            </a:r>
            <a:r>
              <a:rPr sz="1100" spc="-30" dirty="0">
                <a:latin typeface="Tahoma"/>
                <a:cs typeface="Tahoma"/>
              </a:rPr>
              <a:t>(log-likelihood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stops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increasing).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5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  <p:pic>
        <p:nvPicPr>
          <p:cNvPr id="12" name="gmm_soft_overlap_close">
            <a:hlinkClick r:id="" action="ppaction://media"/>
            <a:extLst>
              <a:ext uri="{FF2B5EF4-FFF2-40B4-BE49-F238E27FC236}">
                <a16:creationId xmlns:a16="http://schemas.microsoft.com/office/drawing/2014/main" id="{45D43BA0-CA92-BE3D-E7ED-4CC464DE80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10818" y="674940"/>
            <a:ext cx="2315282" cy="1984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B1D4FF-5678-2821-CFBC-477C59E42C6B}"/>
              </a:ext>
            </a:extLst>
          </p:cNvPr>
          <p:cNvSpPr txBox="1"/>
          <p:nvPr/>
        </p:nvSpPr>
        <p:spPr>
          <a:xfrm>
            <a:off x="1239424" y="790044"/>
            <a:ext cx="113040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dirty="0"/>
              <a:t>n=1 k=1</a:t>
            </a:r>
            <a:endParaRPr lang="en-US" sz="9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Research</a:t>
            </a:r>
            <a:r>
              <a:rPr spc="-10" dirty="0"/>
              <a:t> </a:t>
            </a:r>
            <a:r>
              <a:rPr spc="-35" dirty="0"/>
              <a:t>Questions</a:t>
            </a:r>
            <a:r>
              <a:rPr spc="-5" dirty="0"/>
              <a:t> </a:t>
            </a:r>
            <a:r>
              <a:rPr dirty="0"/>
              <a:t>(RQs)</a:t>
            </a:r>
            <a:r>
              <a:rPr spc="-10" dirty="0"/>
              <a:t> </a:t>
            </a:r>
            <a:r>
              <a:rPr spc="-30" dirty="0"/>
              <a:t>and</a:t>
            </a:r>
            <a:r>
              <a:rPr spc="-5" dirty="0"/>
              <a:t> </a:t>
            </a:r>
            <a:r>
              <a:rPr spc="-10" dirty="0"/>
              <a:t>Dataset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4521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55242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36527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37410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47442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557475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4" y="607946"/>
            <a:ext cx="4918075" cy="20580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60" dirty="0">
                <a:latin typeface="Arial"/>
                <a:cs typeface="Arial"/>
              </a:rPr>
              <a:t>Research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50" dirty="0">
                <a:latin typeface="Arial"/>
                <a:cs typeface="Arial"/>
              </a:rPr>
              <a:t>Questions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(RQs):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GMM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effectively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cluster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high-dimensional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image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 </a:t>
            </a:r>
            <a:r>
              <a:rPr sz="1100" spc="-30" dirty="0">
                <a:latin typeface="Tahoma"/>
                <a:cs typeface="Tahoma"/>
              </a:rPr>
              <a:t>(handwritten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digits)? </a:t>
            </a:r>
            <a:r>
              <a:rPr sz="1100" spc="-20" dirty="0">
                <a:latin typeface="Tahoma"/>
                <a:cs typeface="Tahoma"/>
              </a:rPr>
              <a:t>How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GMM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compare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KMeans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standard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clustering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metrics?</a:t>
            </a:r>
            <a:endParaRPr sz="1100">
              <a:latin typeface="Tahoma"/>
              <a:cs typeface="Tahoma"/>
            </a:endParaRPr>
          </a:p>
          <a:p>
            <a:pPr marL="289560" marR="3479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What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insights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65" dirty="0">
                <a:latin typeface="Tahoma"/>
                <a:cs typeface="Tahoma"/>
              </a:rPr>
              <a:t>GMM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provide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through</a:t>
            </a:r>
            <a:r>
              <a:rPr sz="1100" spc="-30" dirty="0">
                <a:latin typeface="Tahoma"/>
                <a:cs typeface="Tahoma"/>
              </a:rPr>
              <a:t> explainability </a:t>
            </a:r>
            <a:r>
              <a:rPr sz="1100" spc="-10" dirty="0">
                <a:latin typeface="Tahoma"/>
                <a:cs typeface="Tahoma"/>
              </a:rPr>
              <a:t>(soft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assignments, </a:t>
            </a:r>
            <a:r>
              <a:rPr sz="1100" spc="-10" dirty="0">
                <a:latin typeface="Tahoma"/>
                <a:cs typeface="Tahoma"/>
              </a:rPr>
              <a:t>responsibilities)?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Dataset:</a:t>
            </a:r>
            <a:endParaRPr sz="1100">
              <a:latin typeface="Arial"/>
              <a:cs typeface="Arial"/>
            </a:endParaRPr>
          </a:p>
          <a:p>
            <a:pPr marL="289560" marR="2017395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Digits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105" dirty="0">
                <a:latin typeface="Calibri"/>
                <a:cs typeface="Calibri"/>
              </a:rPr>
              <a:t>sklearn.datasets</a:t>
            </a:r>
            <a:r>
              <a:rPr sz="1100" spc="500" dirty="0">
                <a:latin typeface="Calibri"/>
                <a:cs typeface="Calibri"/>
              </a:rPr>
              <a:t> </a:t>
            </a:r>
            <a:r>
              <a:rPr sz="1100" spc="-50" dirty="0">
                <a:latin typeface="Tahoma"/>
                <a:cs typeface="Tahoma"/>
              </a:rPr>
              <a:t>1797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samples,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64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(8x8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pixel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images) </a:t>
            </a:r>
            <a:r>
              <a:rPr sz="1100" spc="-20" dirty="0">
                <a:latin typeface="Tahoma"/>
                <a:cs typeface="Tahoma"/>
              </a:rPr>
              <a:t>10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clusters</a:t>
            </a:r>
            <a:r>
              <a:rPr sz="1100" spc="-45" dirty="0">
                <a:latin typeface="Tahoma"/>
                <a:cs typeface="Tahoma"/>
              </a:rPr>
              <a:t> expected </a:t>
            </a:r>
            <a:r>
              <a:rPr sz="1100" spc="-10" dirty="0">
                <a:latin typeface="Tahoma"/>
                <a:cs typeface="Tahoma"/>
              </a:rPr>
              <a:t>(digits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0–9)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6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Clustering</a:t>
            </a:r>
            <a:r>
              <a:rPr spc="-45" dirty="0"/>
              <a:t> </a:t>
            </a:r>
            <a:r>
              <a:rPr dirty="0"/>
              <a:t>Metrics</a:t>
            </a:r>
            <a:r>
              <a:rPr spc="-40" dirty="0"/>
              <a:t> Comparison</a:t>
            </a:r>
          </a:p>
        </p:txBody>
      </p:sp>
      <p:sp>
        <p:nvSpPr>
          <p:cNvPr id="3" name="object 3"/>
          <p:cNvSpPr/>
          <p:nvPr/>
        </p:nvSpPr>
        <p:spPr>
          <a:xfrm>
            <a:off x="4624209" y="99819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052740"/>
              </p:ext>
            </p:extLst>
          </p:nvPr>
        </p:nvGraphicFramePr>
        <p:xfrm>
          <a:off x="106794" y="608747"/>
          <a:ext cx="5026658" cy="8420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7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0029">
                <a:tc>
                  <a:txBody>
                    <a:bodyPr/>
                    <a:lstStyle/>
                    <a:p>
                      <a:pPr marR="51435" algn="r">
                        <a:lnSpc>
                          <a:spcPts val="1070"/>
                        </a:lnSpc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Model</a:t>
                      </a:r>
                      <a:r>
                        <a:rPr sz="11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40" dirty="0">
                          <a:latin typeface="Arial"/>
                          <a:cs typeface="Arial"/>
                        </a:rPr>
                        <a:t>Performance</a:t>
                      </a:r>
                      <a:r>
                        <a:rPr sz="11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Metrics: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581025" algn="l"/>
                        </a:tabLst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Model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1000" spc="-25" dirty="0">
                          <a:latin typeface="Tahoma"/>
                          <a:cs typeface="Tahoma"/>
                        </a:rPr>
                        <a:t>Silhouette</a:t>
                      </a:r>
                      <a:r>
                        <a:rPr sz="10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latin typeface="Lucida Sans Unicode"/>
                          <a:cs typeface="Lucida Sans Unicode"/>
                        </a:rPr>
                        <a:t>↑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55" dirty="0">
                          <a:latin typeface="Tahoma"/>
                          <a:cs typeface="Tahoma"/>
                        </a:rPr>
                        <a:t>DB</a:t>
                      </a:r>
                      <a:r>
                        <a:rPr sz="1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65" dirty="0">
                          <a:latin typeface="Tahoma"/>
                          <a:cs typeface="Tahoma"/>
                        </a:rPr>
                        <a:t>Index</a:t>
                      </a:r>
                      <a:r>
                        <a:rPr sz="10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latin typeface="Lucida Sans Unicode"/>
                          <a:cs typeface="Lucida Sans Unicode"/>
                        </a:rPr>
                        <a:t>↓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CH</a:t>
                      </a:r>
                      <a:r>
                        <a:rPr sz="100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65" dirty="0">
                          <a:latin typeface="Tahoma"/>
                          <a:cs typeface="Tahoma"/>
                        </a:rPr>
                        <a:t>Index</a:t>
                      </a:r>
                      <a:r>
                        <a:rPr sz="1000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latin typeface="Lucida Sans Unicode"/>
                          <a:cs typeface="Lucida Sans Unicode"/>
                        </a:rPr>
                        <a:t>↑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AIC</a:t>
                      </a:r>
                      <a:r>
                        <a:rPr sz="10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105" dirty="0">
                          <a:latin typeface="Tahoma"/>
                          <a:cs typeface="Tahoma"/>
                        </a:rPr>
                        <a:t>/</a:t>
                      </a:r>
                      <a:r>
                        <a:rPr sz="10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BIC</a:t>
                      </a:r>
                      <a:r>
                        <a:rPr sz="10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latin typeface="Lucida Sans Unicode"/>
                          <a:cs typeface="Lucida Sans Unicode"/>
                        </a:rPr>
                        <a:t>↓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0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clusters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596900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1350645" algn="l"/>
                        </a:tabLst>
                      </a:pPr>
                      <a:r>
                        <a:rPr sz="1000" spc="-10" dirty="0" err="1">
                          <a:latin typeface="Tahoma"/>
                          <a:cs typeface="Tahoma"/>
                        </a:rPr>
                        <a:t>K</a:t>
                      </a:r>
                      <a:r>
                        <a:rPr lang="en-US" sz="1000" spc="-10" dirty="0" err="1">
                          <a:latin typeface="Tahoma"/>
                          <a:cs typeface="Tahoma"/>
                        </a:rPr>
                        <a:t>M</a:t>
                      </a:r>
                      <a:r>
                        <a:rPr sz="1000" spc="-10" dirty="0" err="1">
                          <a:latin typeface="Tahoma"/>
                          <a:cs typeface="Tahoma"/>
                        </a:rPr>
                        <a:t>eans</a:t>
                      </a:r>
                      <a:r>
                        <a:rPr lang="fr-FR" sz="1000" spc="-10" dirty="0">
                          <a:latin typeface="Tahoma"/>
                          <a:cs typeface="Tahoma"/>
                        </a:rPr>
                        <a:t>        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0.1</a:t>
                      </a:r>
                      <a:r>
                        <a:rPr lang="fr-FR" sz="1000" spc="-10" dirty="0">
                          <a:latin typeface="Tahoma"/>
                          <a:cs typeface="Tahoma"/>
                        </a:rPr>
                        <a:t>39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fr-FR" sz="1000" spc="-1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.</a:t>
                      </a:r>
                      <a:r>
                        <a:rPr lang="fr-FR" sz="1000" spc="-10" dirty="0">
                          <a:latin typeface="Tahoma"/>
                          <a:cs typeface="Tahoma"/>
                        </a:rPr>
                        <a:t>877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11</a:t>
                      </a:r>
                      <a:r>
                        <a:rPr lang="fr-FR" sz="1000" spc="-1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.</a:t>
                      </a:r>
                      <a:r>
                        <a:rPr lang="fr-FR" sz="1000" spc="-10" dirty="0">
                          <a:latin typeface="Tahoma"/>
                          <a:cs typeface="Tahoma"/>
                        </a:rPr>
                        <a:t>204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50" dirty="0">
                          <a:latin typeface="Tahoma"/>
                          <a:cs typeface="Tahoma"/>
                        </a:rPr>
                        <a:t>–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L="596900">
                        <a:lnSpc>
                          <a:spcPts val="1050"/>
                        </a:lnSpc>
                        <a:tabLst>
                          <a:tab pos="1329690" algn="l"/>
                        </a:tabLst>
                      </a:pPr>
                      <a:r>
                        <a:rPr sz="1000" spc="30" dirty="0">
                          <a:latin typeface="Tahoma"/>
                          <a:cs typeface="Tahoma"/>
                        </a:rPr>
                        <a:t>GMM</a:t>
                      </a:r>
                      <a:r>
                        <a:rPr sz="1000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1000" spc="-10" dirty="0">
                          <a:latin typeface="Tahoma"/>
                          <a:cs typeface="Tahoma"/>
                        </a:rPr>
                        <a:t>0.</a:t>
                      </a:r>
                      <a:r>
                        <a:rPr lang="fr-FR" sz="1000" spc="-10" dirty="0">
                          <a:latin typeface="Tahoma"/>
                          <a:cs typeface="Tahoma"/>
                        </a:rPr>
                        <a:t>118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2.</a:t>
                      </a:r>
                      <a:r>
                        <a:rPr lang="fr-FR" sz="1000" spc="-10" dirty="0">
                          <a:latin typeface="Tahoma"/>
                          <a:cs typeface="Tahoma"/>
                        </a:rPr>
                        <a:t>003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lang="en-US" sz="1000" spc="-10" dirty="0">
                          <a:latin typeface="Tahoma"/>
                          <a:cs typeface="Tahoma"/>
                        </a:rPr>
                        <a:t>102.577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sz="1000" spc="-45" dirty="0">
                          <a:latin typeface="Tahoma"/>
                          <a:cs typeface="Tahoma"/>
                        </a:rPr>
                        <a:t>-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150542</a:t>
                      </a:r>
                      <a:r>
                        <a:rPr sz="10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105" dirty="0">
                          <a:latin typeface="Tahoma"/>
                          <a:cs typeface="Tahoma"/>
                        </a:rPr>
                        <a:t>/</a:t>
                      </a:r>
                      <a:r>
                        <a:rPr lang="en-US" sz="10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-32704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0"/>
                        </a:lnSpc>
                      </a:pPr>
                      <a:r>
                        <a:rPr lang="fr-FR" sz="1000" spc="-50" dirty="0">
                          <a:latin typeface="Tahoma"/>
                          <a:cs typeface="Tahoma"/>
                        </a:rPr>
                        <a:t>10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93020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312314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694419"/>
            <a:ext cx="65265" cy="6526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1592945"/>
            <a:ext cx="5494020" cy="12096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latin typeface="Arial"/>
                <a:cs typeface="Arial"/>
              </a:rPr>
              <a:t>Key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Points:</a:t>
            </a:r>
            <a:endParaRPr sz="1100" dirty="0">
              <a:latin typeface="Arial"/>
              <a:cs typeface="Arial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KMeans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achieves</a:t>
            </a:r>
            <a:r>
              <a:rPr sz="1100" spc="-20" dirty="0">
                <a:latin typeface="Tahoma"/>
                <a:cs typeface="Tahoma"/>
              </a:rPr>
              <a:t> better </a:t>
            </a:r>
            <a:r>
              <a:rPr sz="1100" spc="-30" dirty="0">
                <a:latin typeface="Tahoma"/>
                <a:cs typeface="Tahoma"/>
              </a:rPr>
              <a:t>cluster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separation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metrics</a:t>
            </a:r>
            <a:r>
              <a:rPr sz="1100" spc="-25" dirty="0">
                <a:latin typeface="Tahoma"/>
                <a:cs typeface="Tahoma"/>
              </a:rPr>
              <a:t> (Silhouette, </a:t>
            </a:r>
            <a:r>
              <a:rPr sz="1100" dirty="0">
                <a:latin typeface="Tahoma"/>
                <a:cs typeface="Tahoma"/>
              </a:rPr>
              <a:t>CH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index)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finds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10 </a:t>
            </a:r>
            <a:r>
              <a:rPr sz="1100" dirty="0">
                <a:latin typeface="Tahoma"/>
                <a:cs typeface="Tahoma"/>
              </a:rPr>
              <a:t>digit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clusters.</a:t>
            </a:r>
            <a:endParaRPr sz="1100" dirty="0">
              <a:latin typeface="Tahoma"/>
              <a:cs typeface="Tahoma"/>
            </a:endParaRPr>
          </a:p>
          <a:p>
            <a:pPr marL="289560" marR="281305">
              <a:lnSpc>
                <a:spcPct val="102600"/>
              </a:lnSpc>
              <a:spcBef>
                <a:spcPts val="300"/>
              </a:spcBef>
            </a:pPr>
            <a:r>
              <a:rPr sz="1100" spc="65" dirty="0">
                <a:latin typeface="Tahoma"/>
                <a:cs typeface="Tahoma"/>
              </a:rPr>
              <a:t>GMM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detected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fewer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clusters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lang="fr-FR" sz="1100" spc="-10" dirty="0">
                <a:latin typeface="Tahoma"/>
                <a:cs typeface="Tahoma"/>
              </a:rPr>
              <a:t>10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shows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negative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silhouette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overlapping </a:t>
            </a:r>
            <a:r>
              <a:rPr sz="1100" spc="-10" dirty="0">
                <a:latin typeface="Tahoma"/>
                <a:cs typeface="Tahoma"/>
              </a:rPr>
              <a:t>clusters.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65" dirty="0">
                <a:latin typeface="Tahoma"/>
                <a:cs typeface="Tahoma"/>
              </a:rPr>
              <a:t>GMM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still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valuable</a:t>
            </a:r>
            <a:r>
              <a:rPr sz="1100" spc="-20" dirty="0">
                <a:latin typeface="Tahoma"/>
                <a:cs typeface="Tahoma"/>
              </a:rPr>
              <a:t> 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probabilistic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assignments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soft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clustering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explanations.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7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kNN</a:t>
            </a:r>
            <a:r>
              <a:rPr spc="45" dirty="0"/>
              <a:t> </a:t>
            </a:r>
            <a:r>
              <a:rPr spc="-35" dirty="0"/>
              <a:t>and</a:t>
            </a:r>
            <a:r>
              <a:rPr spc="50" dirty="0"/>
              <a:t> </a:t>
            </a:r>
            <a:r>
              <a:rPr dirty="0"/>
              <a:t>CNN</a:t>
            </a:r>
            <a:r>
              <a:rPr spc="45" dirty="0"/>
              <a:t> </a:t>
            </a:r>
            <a:r>
              <a:rPr spc="-25" dirty="0"/>
              <a:t>Classification</a:t>
            </a:r>
            <a:r>
              <a:rPr spc="50" dirty="0"/>
              <a:t> </a:t>
            </a:r>
            <a:r>
              <a:rPr spc="-10" dirty="0"/>
              <a:t>Metrics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07809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1784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27874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33790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865972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076005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286037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496070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5844" y="370545"/>
            <a:ext cx="5206365" cy="27241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dirty="0">
                <a:latin typeface="Arial"/>
                <a:cs typeface="Arial"/>
              </a:rPr>
              <a:t>kNN</a:t>
            </a:r>
            <a:r>
              <a:rPr sz="1100" b="1" spc="8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Test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Metrics: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Tahoma"/>
                <a:cs typeface="Tahoma"/>
              </a:rPr>
              <a:t>Accuracy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0.9</a:t>
            </a:r>
            <a:r>
              <a:rPr lang="fr-FR" sz="1100" spc="-10" dirty="0">
                <a:latin typeface="Tahoma"/>
                <a:cs typeface="Tahoma"/>
              </a:rPr>
              <a:t>750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25" dirty="0">
                <a:latin typeface="Tahoma"/>
                <a:cs typeface="Tahoma"/>
              </a:rPr>
              <a:t>Precision: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0.9</a:t>
            </a:r>
            <a:r>
              <a:rPr lang="fr-FR" sz="1100" spc="-10" dirty="0">
                <a:latin typeface="Tahoma"/>
                <a:cs typeface="Tahoma"/>
              </a:rPr>
              <a:t>765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Tahoma"/>
                <a:cs typeface="Tahoma"/>
              </a:rPr>
              <a:t>Recall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0.9</a:t>
            </a:r>
            <a:r>
              <a:rPr lang="fr-FR" sz="1100" spc="-10" dirty="0">
                <a:latin typeface="Tahoma"/>
                <a:cs typeface="Tahoma"/>
              </a:rPr>
              <a:t>769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F1-</a:t>
            </a:r>
            <a:r>
              <a:rPr sz="1100" spc="-50" dirty="0">
                <a:latin typeface="Tahoma"/>
                <a:cs typeface="Tahoma"/>
              </a:rPr>
              <a:t>score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0.9</a:t>
            </a:r>
            <a:r>
              <a:rPr lang="fr-FR" sz="1100" spc="-10" dirty="0">
                <a:latin typeface="Tahoma"/>
                <a:cs typeface="Tahoma"/>
              </a:rPr>
              <a:t>765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1100" b="1" dirty="0">
                <a:latin typeface="Arial"/>
                <a:cs typeface="Arial"/>
              </a:rPr>
              <a:t>CNN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Test</a:t>
            </a:r>
            <a:r>
              <a:rPr sz="1100" b="1" spc="8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Metrics: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spc="-20" dirty="0">
                <a:latin typeface="Tahoma"/>
                <a:cs typeface="Tahoma"/>
              </a:rPr>
              <a:t>Accuracy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0.9</a:t>
            </a:r>
            <a:r>
              <a:rPr lang="fr-FR" sz="1100" spc="-10" dirty="0">
                <a:latin typeface="Tahoma"/>
                <a:cs typeface="Tahoma"/>
              </a:rPr>
              <a:t>667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25" dirty="0">
                <a:latin typeface="Tahoma"/>
                <a:cs typeface="Tahoma"/>
              </a:rPr>
              <a:t>Precision: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0.9</a:t>
            </a:r>
            <a:r>
              <a:rPr lang="fr-FR" sz="1100" spc="-10" dirty="0">
                <a:latin typeface="Tahoma"/>
                <a:cs typeface="Tahoma"/>
              </a:rPr>
              <a:t>724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Tahoma"/>
                <a:cs typeface="Tahoma"/>
              </a:rPr>
              <a:t>Recall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0.9</a:t>
            </a:r>
            <a:r>
              <a:rPr lang="fr-FR" sz="1100" spc="-10" dirty="0">
                <a:latin typeface="Tahoma"/>
                <a:cs typeface="Tahoma"/>
              </a:rPr>
              <a:t>671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45" dirty="0">
                <a:latin typeface="Tahoma"/>
                <a:cs typeface="Tahoma"/>
              </a:rPr>
              <a:t>F1-</a:t>
            </a:r>
            <a:r>
              <a:rPr sz="1100" spc="-50" dirty="0">
                <a:latin typeface="Tahoma"/>
                <a:cs typeface="Tahoma"/>
              </a:rPr>
              <a:t>score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: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0.9</a:t>
            </a:r>
            <a:r>
              <a:rPr lang="fr-FR" sz="1100" spc="-10" dirty="0">
                <a:latin typeface="Tahoma"/>
                <a:cs typeface="Tahoma"/>
              </a:rPr>
              <a:t>685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1150"/>
              </a:spcBef>
            </a:pPr>
            <a:r>
              <a:rPr sz="1100" b="1" spc="-40" dirty="0">
                <a:latin typeface="Arial"/>
                <a:cs typeface="Arial"/>
              </a:rPr>
              <a:t>Observation:</a:t>
            </a:r>
            <a:r>
              <a:rPr sz="1100" b="1" spc="13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Supervised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models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outperform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clustering,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demonstrating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reliability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for classification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tasks.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8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5374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Assignments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Patterns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9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14731900-7D9D-9772-FEA3-55C1CD9E8501}"/>
              </a:ext>
            </a:extLst>
          </p:cNvPr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9296CA-0212-AB20-6768-E4A6D6777172}"/>
              </a:ext>
            </a:extLst>
          </p:cNvPr>
          <p:cNvSpPr txBox="1"/>
          <p:nvPr/>
        </p:nvSpPr>
        <p:spPr>
          <a:xfrm>
            <a:off x="5270500" y="3117684"/>
            <a:ext cx="489585" cy="18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z="800" spc="-10" dirty="0">
                <a:solidFill>
                  <a:schemeClr val="bg1"/>
                </a:solidFill>
              </a:rPr>
              <a:t>9</a:t>
            </a:r>
            <a:r>
              <a:rPr lang="en-US" sz="800" spc="-85" dirty="0">
                <a:solidFill>
                  <a:schemeClr val="bg1"/>
                </a:solidFill>
              </a:rPr>
              <a:t> </a:t>
            </a:r>
            <a:r>
              <a:rPr lang="en-US" sz="800" spc="90" dirty="0">
                <a:solidFill>
                  <a:schemeClr val="bg1"/>
                </a:solidFill>
              </a:rPr>
              <a:t>/</a:t>
            </a:r>
            <a:r>
              <a:rPr lang="en-US" sz="800" spc="-85" dirty="0">
                <a:solidFill>
                  <a:schemeClr val="bg1"/>
                </a:solidFill>
              </a:rPr>
              <a:t> </a:t>
            </a:r>
            <a:r>
              <a:rPr lang="en-US" sz="800" spc="-35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3" name="digits_advanced_animation (1)">
            <a:hlinkClick r:id="" action="ppaction://media"/>
            <a:extLst>
              <a:ext uri="{FF2B5EF4-FFF2-40B4-BE49-F238E27FC236}">
                <a16:creationId xmlns:a16="http://schemas.microsoft.com/office/drawing/2014/main" id="{4F0DFF3C-5D5B-B378-0BF6-0EB36ED031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95667" y="383359"/>
            <a:ext cx="3968750" cy="2728341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59877"/>
            <a:ext cx="25374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Cluster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Assignments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Patterns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9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13</a:t>
            </a:r>
          </a:p>
        </p:txBody>
      </p:sp>
      <p:pic>
        <p:nvPicPr>
          <p:cNvPr id="12" name="evolution_live_all_models">
            <a:hlinkClick r:id="" action="ppaction://media"/>
            <a:extLst>
              <a:ext uri="{FF2B5EF4-FFF2-40B4-BE49-F238E27FC236}">
                <a16:creationId xmlns:a16="http://schemas.microsoft.com/office/drawing/2014/main" id="{81180AB0-FC8E-B38E-0CB3-6E815B21556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16100" y="390437"/>
            <a:ext cx="2216971" cy="2837014"/>
          </a:xfrm>
          <a:prstGeom prst="rect">
            <a:avLst/>
          </a:prstGeom>
        </p:spPr>
      </p:pic>
      <p:sp>
        <p:nvSpPr>
          <p:cNvPr id="6" name="object 11">
            <a:extLst>
              <a:ext uri="{FF2B5EF4-FFF2-40B4-BE49-F238E27FC236}">
                <a16:creationId xmlns:a16="http://schemas.microsoft.com/office/drawing/2014/main" id="{F245B96B-03AA-8B59-4ABE-C885D340FAC5}"/>
              </a:ext>
            </a:extLst>
          </p:cNvPr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02626-8EE7-9409-8D79-56E9A28CE10C}"/>
              </a:ext>
            </a:extLst>
          </p:cNvPr>
          <p:cNvSpPr txBox="1"/>
          <p:nvPr/>
        </p:nvSpPr>
        <p:spPr>
          <a:xfrm>
            <a:off x="5321300" y="3117684"/>
            <a:ext cx="609600" cy="18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US" sz="800" spc="-10" dirty="0">
                <a:solidFill>
                  <a:schemeClr val="bg1"/>
                </a:solidFill>
              </a:rPr>
              <a:t>10</a:t>
            </a:r>
            <a:r>
              <a:rPr lang="en-US" sz="800" spc="-85" dirty="0">
                <a:solidFill>
                  <a:schemeClr val="bg1"/>
                </a:solidFill>
              </a:rPr>
              <a:t> </a:t>
            </a:r>
            <a:r>
              <a:rPr lang="en-US" sz="800" spc="90" dirty="0">
                <a:solidFill>
                  <a:schemeClr val="bg1"/>
                </a:solidFill>
              </a:rPr>
              <a:t>/</a:t>
            </a:r>
            <a:r>
              <a:rPr lang="en-US" sz="800" spc="-85" dirty="0">
                <a:solidFill>
                  <a:schemeClr val="bg1"/>
                </a:solidFill>
              </a:rPr>
              <a:t> </a:t>
            </a:r>
            <a:r>
              <a:rPr lang="en-US" sz="800" spc="-35" dirty="0">
                <a:solidFill>
                  <a:schemeClr val="bg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888434126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7"/>
            <a:ext cx="30956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90" dirty="0"/>
              <a:t>GMM</a:t>
            </a:r>
            <a:r>
              <a:rPr spc="15" dirty="0"/>
              <a:t> </a:t>
            </a:r>
            <a:r>
              <a:rPr spc="-25" dirty="0"/>
              <a:t>Explainability</a:t>
            </a:r>
            <a:r>
              <a:rPr spc="15" dirty="0"/>
              <a:t> </a:t>
            </a:r>
            <a:r>
              <a:rPr spc="120" dirty="0"/>
              <a:t>&amp;</a:t>
            </a:r>
            <a:r>
              <a:rPr spc="15" dirty="0"/>
              <a:t> </a:t>
            </a:r>
            <a:r>
              <a:rPr dirty="0"/>
              <a:t>Model</a:t>
            </a:r>
            <a:r>
              <a:rPr spc="20" dirty="0"/>
              <a:t> </a:t>
            </a:r>
            <a:r>
              <a:rPr spc="-25" dirty="0"/>
              <a:t>Complexity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75213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13423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516341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189845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4911" y="239052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4911" y="2772625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667" y="414868"/>
            <a:ext cx="2905125" cy="26384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Explainability:</a:t>
            </a:r>
            <a:endParaRPr sz="1100">
              <a:latin typeface="Arial"/>
              <a:cs typeface="Arial"/>
            </a:endParaRPr>
          </a:p>
          <a:p>
            <a:pPr marL="289560" marR="22225">
              <a:lnSpc>
                <a:spcPct val="102699"/>
              </a:lnSpc>
              <a:spcBef>
                <a:spcPts val="295"/>
              </a:spcBef>
            </a:pPr>
            <a:r>
              <a:rPr sz="1100" spc="-35" dirty="0">
                <a:latin typeface="Tahoma"/>
                <a:cs typeface="Tahoma"/>
              </a:rPr>
              <a:t>Responsibilities: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Probabilistic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assignments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clusters.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sz="1100" spc="-40" dirty="0">
                <a:latin typeface="Tahoma"/>
                <a:cs typeface="Tahoma"/>
              </a:rPr>
              <a:t>Ambiguous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digits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identified</a:t>
            </a:r>
            <a:r>
              <a:rPr sz="1100" spc="-40" dirty="0">
                <a:latin typeface="Tahoma"/>
                <a:cs typeface="Tahoma"/>
              </a:rPr>
              <a:t> (e.g.,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“8” </a:t>
            </a:r>
            <a:r>
              <a:rPr sz="1100" spc="-30" dirty="0">
                <a:latin typeface="Tahoma"/>
                <a:cs typeface="Tahoma"/>
              </a:rPr>
              <a:t>vs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“3”).</a:t>
            </a:r>
            <a:endParaRPr sz="1100">
              <a:latin typeface="Tahoma"/>
              <a:cs typeface="Tahoma"/>
            </a:endParaRPr>
          </a:p>
          <a:p>
            <a:pPr marL="289560" marR="194310">
              <a:lnSpc>
                <a:spcPct val="102600"/>
              </a:lnSpc>
              <a:spcBef>
                <a:spcPts val="300"/>
              </a:spcBef>
            </a:pPr>
            <a:r>
              <a:rPr sz="1100" spc="-10" dirty="0">
                <a:latin typeface="Tahoma"/>
                <a:cs typeface="Tahoma"/>
              </a:rPr>
              <a:t>Cluster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prototypes: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Mean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pixel</a:t>
            </a:r>
            <a:r>
              <a:rPr sz="1100" spc="-50" dirty="0">
                <a:latin typeface="Tahoma"/>
                <a:cs typeface="Tahoma"/>
              </a:rPr>
              <a:t> values</a:t>
            </a:r>
            <a:r>
              <a:rPr sz="1100" spc="-40" dirty="0">
                <a:latin typeface="Tahoma"/>
                <a:cs typeface="Tahoma"/>
              </a:rPr>
              <a:t> per </a:t>
            </a:r>
            <a:r>
              <a:rPr sz="1100" spc="-10" dirty="0">
                <a:latin typeface="Tahoma"/>
                <a:cs typeface="Tahoma"/>
              </a:rPr>
              <a:t>cluster.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Tahoma"/>
                <a:cs typeface="Tahoma"/>
              </a:rPr>
              <a:t>Highlight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pixels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differentiating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clusters.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100" b="1" spc="-10" dirty="0">
                <a:latin typeface="Arial"/>
                <a:cs typeface="Arial"/>
              </a:rPr>
              <a:t>Complexity:</a:t>
            </a:r>
            <a:endParaRPr sz="1100">
              <a:latin typeface="Arial"/>
              <a:cs typeface="Arial"/>
            </a:endParaRPr>
          </a:p>
          <a:p>
            <a:pPr marL="289560" marR="42545">
              <a:lnSpc>
                <a:spcPct val="102600"/>
              </a:lnSpc>
              <a:spcBef>
                <a:spcPts val="300"/>
              </a:spcBef>
            </a:pPr>
            <a:r>
              <a:rPr sz="1100" spc="65" dirty="0">
                <a:latin typeface="Tahoma"/>
                <a:cs typeface="Tahoma"/>
              </a:rPr>
              <a:t>GMM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time:</a:t>
            </a:r>
            <a:r>
              <a:rPr sz="1100" spc="38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0.44s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(slower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KMeans: </a:t>
            </a:r>
            <a:r>
              <a:rPr sz="1100" spc="-10" dirty="0">
                <a:latin typeface="Tahoma"/>
                <a:cs typeface="Tahoma"/>
              </a:rPr>
              <a:t>0.059s)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30" dirty="0">
                <a:latin typeface="Tahoma"/>
                <a:cs typeface="Tahoma"/>
              </a:rPr>
              <a:t>Complexity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grows</a:t>
            </a:r>
            <a:r>
              <a:rPr sz="1100" dirty="0">
                <a:latin typeface="Tahoma"/>
                <a:cs typeface="Tahoma"/>
              </a:rPr>
              <a:t> with </a:t>
            </a:r>
            <a:r>
              <a:rPr sz="1100" i="1" dirty="0">
                <a:latin typeface="Arial"/>
                <a:cs typeface="Arial"/>
              </a:rPr>
              <a:t>O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60" dirty="0">
                <a:latin typeface="Arial"/>
                <a:cs typeface="Arial"/>
              </a:rPr>
              <a:t>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70" dirty="0">
                <a:latin typeface="Arial"/>
                <a:cs typeface="Arial"/>
              </a:rPr>
              <a:t>·</a:t>
            </a:r>
            <a:r>
              <a:rPr sz="1100" i="1" spc="-65" dirty="0">
                <a:latin typeface="Arial"/>
                <a:cs typeface="Arial"/>
              </a:rPr>
              <a:t> 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where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i="1" spc="-20" dirty="0">
                <a:latin typeface="Arial"/>
                <a:cs typeface="Arial"/>
              </a:rPr>
              <a:t>k</a:t>
            </a:r>
            <a:r>
              <a:rPr sz="1100" spc="-20" dirty="0">
                <a:latin typeface="Tahoma"/>
                <a:cs typeface="Tahoma"/>
              </a:rPr>
              <a:t>=clusters,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40" dirty="0">
                <a:latin typeface="Arial"/>
                <a:cs typeface="Arial"/>
              </a:rPr>
              <a:t>n</a:t>
            </a:r>
            <a:r>
              <a:rPr sz="1100" spc="-40" dirty="0">
                <a:latin typeface="Tahoma"/>
                <a:cs typeface="Tahoma"/>
              </a:rPr>
              <a:t>=samples,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=features.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45068" y="563024"/>
            <a:ext cx="2379374" cy="144643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5410758" y="3131566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1</a:t>
            </a:r>
            <a:r>
              <a:rPr lang="fr-FR" spc="-10" dirty="0"/>
              <a:t>1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</a:t>
            </a:r>
            <a:r>
              <a:rPr lang="fr-FR" spc="-35" dirty="0"/>
              <a:t>3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15441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65" dirty="0">
                <a:solidFill>
                  <a:srgbClr val="000000"/>
                </a:solidFill>
              </a:rPr>
              <a:t>GMM</a:t>
            </a:r>
            <a:r>
              <a:rPr sz="1100" spc="-20" dirty="0">
                <a:solidFill>
                  <a:srgbClr val="000000"/>
                </a:solidFill>
              </a:rPr>
              <a:t> </a:t>
            </a:r>
            <a:r>
              <a:rPr sz="1100" spc="-45" dirty="0">
                <a:solidFill>
                  <a:srgbClr val="000000"/>
                </a:solidFill>
              </a:rPr>
              <a:t>offers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30" dirty="0">
                <a:solidFill>
                  <a:srgbClr val="000000"/>
                </a:solidFill>
              </a:rPr>
              <a:t>interpretability</a:t>
            </a:r>
            <a:r>
              <a:rPr sz="1100" spc="-20" dirty="0">
                <a:solidFill>
                  <a:srgbClr val="000000"/>
                </a:solidFill>
              </a:rPr>
              <a:t> </a:t>
            </a:r>
            <a:r>
              <a:rPr sz="1100" spc="-45" dirty="0">
                <a:solidFill>
                  <a:srgbClr val="000000"/>
                </a:solidFill>
              </a:rPr>
              <a:t>advantages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35" dirty="0">
                <a:solidFill>
                  <a:srgbClr val="000000"/>
                </a:solidFill>
              </a:rPr>
              <a:t>despite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slightly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65" dirty="0">
                <a:solidFill>
                  <a:srgbClr val="000000"/>
                </a:solidFill>
              </a:rPr>
              <a:t>slower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fit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time.</a:t>
            </a:r>
            <a:r>
              <a:rPr sz="1100" spc="95" dirty="0">
                <a:solidFill>
                  <a:srgbClr val="000000"/>
                </a:solidFill>
              </a:rPr>
              <a:t> </a:t>
            </a:r>
            <a:r>
              <a:rPr sz="1100" spc="-60" dirty="0">
                <a:solidFill>
                  <a:srgbClr val="000000"/>
                </a:solidFill>
              </a:rPr>
              <a:t>Ideal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55" dirty="0">
                <a:solidFill>
                  <a:srgbClr val="000000"/>
                </a:solidFill>
              </a:rPr>
              <a:t>when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25" dirty="0">
                <a:solidFill>
                  <a:srgbClr val="000000"/>
                </a:solidFill>
              </a:rPr>
              <a:t>cluster </a:t>
            </a:r>
            <a:r>
              <a:rPr sz="1100" spc="-35" dirty="0">
                <a:solidFill>
                  <a:srgbClr val="000000"/>
                </a:solidFill>
              </a:rPr>
              <a:t>probabilities</a:t>
            </a:r>
            <a:r>
              <a:rPr sz="1100" spc="-10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or</a:t>
            </a:r>
            <a:r>
              <a:rPr sz="1100" dirty="0">
                <a:solidFill>
                  <a:srgbClr val="000000"/>
                </a:solidFill>
              </a:rPr>
              <a:t> </a:t>
            </a:r>
            <a:r>
              <a:rPr sz="1100" spc="-35" dirty="0">
                <a:solidFill>
                  <a:srgbClr val="000000"/>
                </a:solidFill>
              </a:rPr>
              <a:t>uncertainty</a:t>
            </a:r>
            <a:r>
              <a:rPr sz="1100" spc="-10" dirty="0">
                <a:solidFill>
                  <a:srgbClr val="000000"/>
                </a:solidFill>
              </a:rPr>
              <a:t> matters.</a:t>
            </a:r>
            <a:endParaRPr sz="1100"/>
          </a:p>
          <a:p>
            <a:pPr marL="12700" marR="274320">
              <a:lnSpc>
                <a:spcPct val="102600"/>
              </a:lnSpc>
              <a:spcBef>
                <a:spcPts val="300"/>
              </a:spcBef>
            </a:pPr>
            <a:r>
              <a:rPr sz="1100" spc="-45" dirty="0">
                <a:solidFill>
                  <a:srgbClr val="000000"/>
                </a:solidFill>
              </a:rPr>
              <a:t>Supervised</a:t>
            </a:r>
            <a:r>
              <a:rPr sz="1100" spc="-40" dirty="0">
                <a:solidFill>
                  <a:srgbClr val="000000"/>
                </a:solidFill>
              </a:rPr>
              <a:t> learning</a:t>
            </a:r>
            <a:r>
              <a:rPr sz="1100" spc="-35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could</a:t>
            </a:r>
            <a:r>
              <a:rPr sz="1100" spc="-35" dirty="0">
                <a:solidFill>
                  <a:srgbClr val="000000"/>
                </a:solidFill>
              </a:rPr>
              <a:t> </a:t>
            </a:r>
            <a:r>
              <a:rPr sz="1100" spc="-45" dirty="0">
                <a:solidFill>
                  <a:srgbClr val="000000"/>
                </a:solidFill>
              </a:rPr>
              <a:t>achieve</a:t>
            </a:r>
            <a:r>
              <a:rPr sz="1100" spc="-35" dirty="0">
                <a:solidFill>
                  <a:srgbClr val="000000"/>
                </a:solidFill>
              </a:rPr>
              <a:t> higher accuracy</a:t>
            </a:r>
            <a:r>
              <a:rPr sz="1100" spc="-4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on</a:t>
            </a:r>
            <a:r>
              <a:rPr sz="1100" spc="-35" dirty="0">
                <a:solidFill>
                  <a:srgbClr val="000000"/>
                </a:solidFill>
              </a:rPr>
              <a:t> labeled datasets </a:t>
            </a:r>
            <a:r>
              <a:rPr sz="1100" spc="-10" dirty="0">
                <a:solidFill>
                  <a:srgbClr val="000000"/>
                </a:solidFill>
              </a:rPr>
              <a:t>like</a:t>
            </a:r>
            <a:r>
              <a:rPr sz="1100" spc="-35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digits,</a:t>
            </a:r>
            <a:r>
              <a:rPr sz="1100" spc="-35" dirty="0">
                <a:solidFill>
                  <a:srgbClr val="000000"/>
                </a:solidFill>
              </a:rPr>
              <a:t> </a:t>
            </a:r>
            <a:r>
              <a:rPr sz="1100" spc="-25" dirty="0">
                <a:solidFill>
                  <a:srgbClr val="000000"/>
                </a:solidFill>
              </a:rPr>
              <a:t>but </a:t>
            </a:r>
            <a:r>
              <a:rPr sz="1100" spc="-35" dirty="0">
                <a:solidFill>
                  <a:srgbClr val="000000"/>
                </a:solidFill>
              </a:rPr>
              <a:t>clustering </a:t>
            </a:r>
            <a:r>
              <a:rPr sz="1100" dirty="0">
                <a:solidFill>
                  <a:srgbClr val="000000"/>
                </a:solidFill>
              </a:rPr>
              <a:t>is</a:t>
            </a:r>
            <a:r>
              <a:rPr sz="1100" spc="-35" dirty="0">
                <a:solidFill>
                  <a:srgbClr val="000000"/>
                </a:solidFill>
              </a:rPr>
              <a:t> </a:t>
            </a:r>
            <a:r>
              <a:rPr sz="1100" spc="-40" dirty="0">
                <a:solidFill>
                  <a:srgbClr val="000000"/>
                </a:solidFill>
              </a:rPr>
              <a:t>useful</a:t>
            </a:r>
            <a:r>
              <a:rPr sz="1100" spc="-30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for</a:t>
            </a:r>
            <a:r>
              <a:rPr sz="1100" spc="-30" dirty="0">
                <a:solidFill>
                  <a:srgbClr val="000000"/>
                </a:solidFill>
              </a:rPr>
              <a:t> </a:t>
            </a:r>
            <a:r>
              <a:rPr sz="1100" spc="-45" dirty="0">
                <a:solidFill>
                  <a:srgbClr val="000000"/>
                </a:solidFill>
              </a:rPr>
              <a:t>exploratory</a:t>
            </a:r>
            <a:r>
              <a:rPr sz="1100" spc="-35" dirty="0">
                <a:solidFill>
                  <a:srgbClr val="000000"/>
                </a:solidFill>
              </a:rPr>
              <a:t> analysis </a:t>
            </a:r>
            <a:r>
              <a:rPr sz="1100" spc="-20" dirty="0">
                <a:solidFill>
                  <a:srgbClr val="000000"/>
                </a:solidFill>
              </a:rPr>
              <a:t>or</a:t>
            </a:r>
            <a:r>
              <a:rPr sz="1100" spc="-30" dirty="0">
                <a:solidFill>
                  <a:srgbClr val="000000"/>
                </a:solidFill>
              </a:rPr>
              <a:t> </a:t>
            </a:r>
            <a:r>
              <a:rPr sz="1100" spc="-40" dirty="0">
                <a:solidFill>
                  <a:srgbClr val="000000"/>
                </a:solidFill>
              </a:rPr>
              <a:t>unlabeled</a:t>
            </a:r>
            <a:r>
              <a:rPr sz="1100" spc="-30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data.</a:t>
            </a:r>
            <a:endParaRPr sz="1100"/>
          </a:p>
          <a:p>
            <a:pPr marL="12700" marR="465455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solidFill>
                  <a:srgbClr val="000000"/>
                </a:solidFill>
              </a:rPr>
              <a:t>GMM’s </a:t>
            </a:r>
            <a:r>
              <a:rPr sz="1100" spc="-30" dirty="0">
                <a:solidFill>
                  <a:srgbClr val="000000"/>
                </a:solidFill>
              </a:rPr>
              <a:t>probabilistic</a:t>
            </a:r>
            <a:r>
              <a:rPr sz="1100" spc="10" dirty="0">
                <a:solidFill>
                  <a:srgbClr val="000000"/>
                </a:solidFill>
              </a:rPr>
              <a:t> </a:t>
            </a:r>
            <a:r>
              <a:rPr sz="1100" spc="-25" dirty="0">
                <a:solidFill>
                  <a:srgbClr val="000000"/>
                </a:solidFill>
              </a:rPr>
              <a:t>outputs</a:t>
            </a:r>
            <a:r>
              <a:rPr sz="1100" spc="5" dirty="0">
                <a:solidFill>
                  <a:srgbClr val="000000"/>
                </a:solidFill>
              </a:rPr>
              <a:t> </a:t>
            </a:r>
            <a:r>
              <a:rPr sz="1100" spc="-35" dirty="0">
                <a:solidFill>
                  <a:srgbClr val="000000"/>
                </a:solidFill>
              </a:rPr>
              <a:t>help</a:t>
            </a:r>
            <a:r>
              <a:rPr sz="1100" spc="10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identify</a:t>
            </a:r>
            <a:r>
              <a:rPr sz="1100" spc="10" dirty="0">
                <a:solidFill>
                  <a:srgbClr val="000000"/>
                </a:solidFill>
              </a:rPr>
              <a:t> </a:t>
            </a:r>
            <a:r>
              <a:rPr sz="1100" spc="-50" dirty="0">
                <a:solidFill>
                  <a:srgbClr val="000000"/>
                </a:solidFill>
              </a:rPr>
              <a:t>ambiguous</a:t>
            </a:r>
            <a:r>
              <a:rPr sz="1100" spc="5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or</a:t>
            </a:r>
            <a:r>
              <a:rPr sz="1100" spc="5" dirty="0">
                <a:solidFill>
                  <a:srgbClr val="000000"/>
                </a:solidFill>
              </a:rPr>
              <a:t> </a:t>
            </a:r>
            <a:r>
              <a:rPr sz="1100" spc="-45" dirty="0">
                <a:solidFill>
                  <a:srgbClr val="000000"/>
                </a:solidFill>
              </a:rPr>
              <a:t>overlapping</a:t>
            </a:r>
            <a:r>
              <a:rPr sz="1100" spc="10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digits,</a:t>
            </a:r>
            <a:r>
              <a:rPr sz="1100" spc="10" dirty="0">
                <a:solidFill>
                  <a:srgbClr val="000000"/>
                </a:solidFill>
              </a:rPr>
              <a:t> </a:t>
            </a:r>
            <a:r>
              <a:rPr sz="1100" spc="-25" dirty="0">
                <a:solidFill>
                  <a:srgbClr val="000000"/>
                </a:solidFill>
              </a:rPr>
              <a:t>aiding </a:t>
            </a:r>
            <a:r>
              <a:rPr sz="1100" spc="-55" dirty="0">
                <a:solidFill>
                  <a:srgbClr val="000000"/>
                </a:solidFill>
              </a:rPr>
              <a:t>downstream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25" dirty="0">
                <a:solidFill>
                  <a:srgbClr val="000000"/>
                </a:solidFill>
              </a:rPr>
              <a:t>tasks</a:t>
            </a:r>
            <a:r>
              <a:rPr sz="1100" spc="-20" dirty="0">
                <a:solidFill>
                  <a:srgbClr val="000000"/>
                </a:solidFill>
              </a:rPr>
              <a:t> </a:t>
            </a:r>
            <a:r>
              <a:rPr sz="1100" spc="-40" dirty="0">
                <a:solidFill>
                  <a:srgbClr val="000000"/>
                </a:solidFill>
              </a:rPr>
              <a:t>such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as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OCR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20" dirty="0">
                <a:solidFill>
                  <a:srgbClr val="000000"/>
                </a:solidFill>
              </a:rPr>
              <a:t>or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60" dirty="0">
                <a:solidFill>
                  <a:srgbClr val="000000"/>
                </a:solidFill>
              </a:rPr>
              <a:t>semi-</a:t>
            </a:r>
            <a:r>
              <a:rPr sz="1100" spc="-50" dirty="0">
                <a:solidFill>
                  <a:srgbClr val="000000"/>
                </a:solidFill>
              </a:rPr>
              <a:t>supervised</a:t>
            </a:r>
            <a:r>
              <a:rPr sz="1100" spc="-15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learning.</a:t>
            </a:r>
            <a:endParaRPr sz="11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9754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79650"/>
            <a:ext cx="65265" cy="6526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410758" y="3131566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1</a:t>
            </a:r>
            <a:r>
              <a:rPr lang="fr-FR" spc="-10" dirty="0"/>
              <a:t>2</a:t>
            </a:r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</a:t>
            </a:r>
            <a:r>
              <a:rPr lang="fr-FR" spc="-35" dirty="0"/>
              <a:t>3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References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2161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570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>
                <a:solidFill>
                  <a:srgbClr val="000000"/>
                </a:solidFill>
              </a:rPr>
              <a:t>Deep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Gaussian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Mixture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Models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10" dirty="0">
                <a:hlinkClick r:id="rId3"/>
              </a:rPr>
              <a:t>https://arxiv.org/pdf/1711.06929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>
                <a:solidFill>
                  <a:srgbClr val="000000"/>
                </a:solidFill>
              </a:rPr>
              <a:t>DataMListic</a:t>
            </a:r>
            <a:r>
              <a:rPr spc="190" dirty="0">
                <a:solidFill>
                  <a:srgbClr val="000000"/>
                </a:solidFill>
              </a:rPr>
              <a:t> </a:t>
            </a:r>
            <a:r>
              <a:rPr i="1" dirty="0">
                <a:solidFill>
                  <a:srgbClr val="000000"/>
                </a:solidFill>
                <a:latin typeface="Arial"/>
                <a:cs typeface="Arial"/>
              </a:rPr>
              <a:t>GMM</a:t>
            </a:r>
            <a:r>
              <a:rPr dirty="0">
                <a:solidFill>
                  <a:srgbClr val="000000"/>
                </a:solidFill>
              </a:rPr>
              <a:t>,</a:t>
            </a:r>
            <a:r>
              <a:rPr spc="19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945-</a:t>
            </a:r>
            <a:r>
              <a:rPr dirty="0">
                <a:solidFill>
                  <a:srgbClr val="000000"/>
                </a:solidFill>
              </a:rPr>
              <a:t>952.</a:t>
            </a:r>
            <a:r>
              <a:rPr spc="3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Retrieved</a:t>
            </a:r>
            <a:r>
              <a:rPr spc="19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from</a:t>
            </a:r>
            <a:r>
              <a:rPr spc="195" dirty="0">
                <a:solidFill>
                  <a:srgbClr val="000000"/>
                </a:solidFill>
              </a:rPr>
              <a:t> </a:t>
            </a:r>
            <a:r>
              <a:rPr dirty="0">
                <a:hlinkClick r:id="rId4"/>
              </a:rPr>
              <a:t>https://youtu.be/wT2yLNUfyoM?si=-pk7N</a:t>
            </a:r>
            <a:r>
              <a:rPr sz="900" i="1" baseline="-13888" dirty="0">
                <a:latin typeface="Arial"/>
                <a:cs typeface="Arial"/>
                <a:hlinkClick r:id="rId4"/>
              </a:rPr>
              <a:t>Y</a:t>
            </a:r>
            <a:r>
              <a:rPr sz="900" i="1" spc="104" baseline="-13888" dirty="0">
                <a:latin typeface="Arial"/>
                <a:cs typeface="Arial"/>
                <a:hlinkClick r:id="rId4"/>
              </a:rPr>
              <a:t> </a:t>
            </a:r>
            <a:r>
              <a:rPr sz="800" i="1" spc="-10" dirty="0">
                <a:latin typeface="Arial"/>
                <a:cs typeface="Arial"/>
                <a:hlinkClick r:id="rId4"/>
              </a:rPr>
              <a:t>OpsFzzha</a:t>
            </a:r>
            <a:r>
              <a:rPr sz="800" spc="-10" dirty="0">
                <a:hlinkClick r:id="rId4"/>
              </a:rPr>
              <a:t>1</a:t>
            </a:r>
            <a:endParaRPr sz="800">
              <a:latin typeface="Arial"/>
              <a:cs typeface="Arial"/>
            </a:endParaRPr>
          </a:p>
          <a:p>
            <a:pPr marL="12700" marR="30480">
              <a:lnSpc>
                <a:spcPct val="129700"/>
              </a:lnSpc>
            </a:pPr>
            <a:r>
              <a:rPr dirty="0">
                <a:solidFill>
                  <a:srgbClr val="000000"/>
                </a:solidFill>
              </a:rPr>
              <a:t>Scikit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Learn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i="1" spc="-35" dirty="0">
                <a:solidFill>
                  <a:srgbClr val="000000"/>
                </a:solidFill>
                <a:latin typeface="Arial"/>
                <a:cs typeface="Arial"/>
              </a:rPr>
              <a:t>Gaussian</a:t>
            </a:r>
            <a:r>
              <a:rPr i="1" spc="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000000"/>
                </a:solidFill>
                <a:latin typeface="Arial"/>
                <a:cs typeface="Arial"/>
              </a:rPr>
              <a:t>mixture</a:t>
            </a:r>
            <a:r>
              <a:rPr i="1" spc="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i="1" spc="-20" dirty="0">
                <a:solidFill>
                  <a:srgbClr val="000000"/>
                </a:solidFill>
                <a:latin typeface="Arial"/>
                <a:cs typeface="Arial"/>
              </a:rPr>
              <a:t>models</a:t>
            </a:r>
            <a:r>
              <a:rPr spc="-20" dirty="0">
                <a:solidFill>
                  <a:srgbClr val="000000"/>
                </a:solidFill>
              </a:rPr>
              <a:t>,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8392.</a:t>
            </a:r>
            <a:r>
              <a:rPr spc="1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Retrieved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from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dirty="0">
                <a:hlinkClick r:id="rId5"/>
              </a:rPr>
              <a:t>https://scikit-</a:t>
            </a:r>
            <a:r>
              <a:rPr spc="-10" dirty="0">
                <a:hlinkClick r:id="rId5"/>
              </a:rPr>
              <a:t>learn.org/stable/modules/mixture.html</a:t>
            </a:r>
            <a:r>
              <a:rPr spc="-10" dirty="0"/>
              <a:t> </a:t>
            </a:r>
            <a:r>
              <a:rPr spc="-10" dirty="0">
                <a:solidFill>
                  <a:srgbClr val="000000"/>
                </a:solidFill>
              </a:rPr>
              <a:t>GeeksforGeeks.</a:t>
            </a:r>
            <a:r>
              <a:rPr spc="12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(2021).</a:t>
            </a:r>
            <a:r>
              <a:rPr spc="1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”Gaussian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Mixture</a:t>
            </a:r>
            <a:r>
              <a:rPr spc="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Model”.</a:t>
            </a:r>
            <a:r>
              <a:rPr spc="13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Retrieved</a:t>
            </a:r>
            <a:r>
              <a:rPr spc="3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from</a:t>
            </a:r>
          </a:p>
          <a:p>
            <a:pPr marL="12700">
              <a:lnSpc>
                <a:spcPts val="944"/>
              </a:lnSpc>
            </a:pPr>
            <a:r>
              <a:rPr spc="-10" dirty="0">
                <a:hlinkClick r:id="rId6"/>
              </a:rPr>
              <a:t>https://www.geeksforgeeks.org/machine-learning/gaussian-mixture-model/</a:t>
            </a:r>
          </a:p>
        </p:txBody>
      </p:sp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137976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153791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1696085"/>
            <a:ext cx="65265" cy="6526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0" y="3117684"/>
            <a:ext cx="5760085" cy="122555"/>
          </a:xfrm>
          <a:custGeom>
            <a:avLst/>
            <a:gdLst/>
            <a:ahLst/>
            <a:cxnLst/>
            <a:rect l="l" t="t" r="r" b="b"/>
            <a:pathLst>
              <a:path w="5760085" h="122555">
                <a:moveTo>
                  <a:pt x="5759996" y="0"/>
                </a:moveTo>
                <a:lnTo>
                  <a:pt x="0" y="0"/>
                </a:lnTo>
                <a:lnTo>
                  <a:pt x="0" y="122313"/>
                </a:lnTo>
                <a:lnTo>
                  <a:pt x="5759996" y="122313"/>
                </a:lnTo>
                <a:lnTo>
                  <a:pt x="575999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8489" y="1127085"/>
            <a:ext cx="148336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70" dirty="0">
                <a:solidFill>
                  <a:srgbClr val="4681B4"/>
                </a:solidFill>
              </a:rPr>
              <a:t>Thank</a:t>
            </a:r>
            <a:r>
              <a:rPr sz="2450" spc="-110" dirty="0">
                <a:solidFill>
                  <a:srgbClr val="4681B4"/>
                </a:solidFill>
              </a:rPr>
              <a:t> </a:t>
            </a:r>
            <a:r>
              <a:rPr sz="2450" spc="-95" dirty="0">
                <a:solidFill>
                  <a:srgbClr val="4681B4"/>
                </a:solidFill>
              </a:rPr>
              <a:t>You!</a:t>
            </a:r>
            <a:endParaRPr sz="245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974</Words>
  <Application>Microsoft Office PowerPoint</Application>
  <PresentationFormat>Custom</PresentationFormat>
  <Paragraphs>138</Paragraphs>
  <Slides>16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Lucida Sans Unicode</vt:lpstr>
      <vt:lpstr>Tahoma</vt:lpstr>
      <vt:lpstr>Times New Roman</vt:lpstr>
      <vt:lpstr>Office Theme</vt:lpstr>
      <vt:lpstr>Gaussian Mixture Models</vt:lpstr>
      <vt:lpstr>Table of Contents</vt:lpstr>
      <vt:lpstr>Gaussian Mixture Model (GMM)</vt:lpstr>
      <vt:lpstr>Origin and History</vt:lpstr>
      <vt:lpstr>How Likely Is This Point in Cluster k?</vt:lpstr>
      <vt:lpstr>How Likely Is This Data Point Overall?</vt:lpstr>
      <vt:lpstr>GMM Likelihood and EM Algorithm</vt:lpstr>
      <vt:lpstr>Research Questions (RQs) and Dataset</vt:lpstr>
      <vt:lpstr>Clustering Metrics Comparison</vt:lpstr>
      <vt:lpstr>kNN and CNN Classification Metrics</vt:lpstr>
      <vt:lpstr>PowerPoint Presentation</vt:lpstr>
      <vt:lpstr>PowerPoint Presentation</vt:lpstr>
      <vt:lpstr>GMM Explainability &amp; Model Complexity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Gaussian Mixture Models</dc:title>
  <dc:creator>Aya Saadaoui  Supervisor: Dr. Montassar Ben Messaoud</dc:creator>
  <cp:lastModifiedBy>saadaouiaya</cp:lastModifiedBy>
  <cp:revision>4</cp:revision>
  <dcterms:created xsi:type="dcterms:W3CDTF">2025-11-17T00:11:50Z</dcterms:created>
  <dcterms:modified xsi:type="dcterms:W3CDTF">2025-11-17T16:07:22Z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2025-11-17T00:00:00Z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